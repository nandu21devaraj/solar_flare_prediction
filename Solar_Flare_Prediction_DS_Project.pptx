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99" r:id="rId3"/>
    <p:sldId id="387" r:id="rId4"/>
    <p:sldId id="294" r:id="rId5"/>
    <p:sldId id="287" r:id="rId6"/>
    <p:sldId id="288" r:id="rId7"/>
    <p:sldId id="290" r:id="rId8"/>
    <p:sldId id="388" r:id="rId9"/>
    <p:sldId id="29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900"/>
    <a:srgbClr val="640C06"/>
    <a:srgbClr val="C22506"/>
    <a:srgbClr val="3A80B6"/>
    <a:srgbClr val="1FC2BA"/>
    <a:srgbClr val="D1CC62"/>
    <a:srgbClr val="BAAEB4"/>
    <a:srgbClr val="591959"/>
    <a:srgbClr val="286D94"/>
    <a:srgbClr val="2181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D91BB6-C80D-48FF-813C-748800FF9E46}" v="66" dt="2026-04-18T16:33:33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444" autoAdjust="0"/>
  </p:normalViewPr>
  <p:slideViewPr>
    <p:cSldViewPr snapToGrid="0">
      <p:cViewPr>
        <p:scale>
          <a:sx n="100" d="100"/>
          <a:sy n="100" d="100"/>
        </p:scale>
        <p:origin x="0" y="-1334"/>
      </p:cViewPr>
      <p:guideLst>
        <p:guide orient="horz" pos="2160"/>
        <p:guide pos="384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9EF0F-91B5-4944-BB7D-54CA6B4ABBB0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25783-CF07-4D78-BCAE-44C7B3C175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92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5783-CF07-4D78-BCAE-44C7B3C1759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642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5783-CF07-4D78-BCAE-44C7B3C1759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052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5783-CF07-4D78-BCAE-44C7B3C1759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396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5783-CF07-4D78-BCAE-44C7B3C1759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887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5783-CF07-4D78-BCAE-44C7B3C1759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816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25783-CF07-4D78-BCAE-44C7B3C1759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429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1870-02C0-70E3-2DA5-8BB210038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6F478-5276-ED30-9827-66532ABCA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86F8F-E9F1-511D-7BA9-9694A59A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DE22D-0E4C-4424-8025-4AE152BF81F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4270A-B039-EB7E-5DEB-036DD011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A79D5-7052-5FC5-D776-4AF7D0F6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95A2-EA8B-4E53-A310-24F0E735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51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E68E-DC00-137B-39B1-F135897C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A598F-8D82-149F-1B51-59F8C89D4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526B6-B9A6-8C73-21DB-8C3909F8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DE22D-0E4C-4424-8025-4AE152BF81F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2FE1B-DC25-8D1C-C912-020AA69D6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DD5E9-0082-5152-7E10-C240BE07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95A2-EA8B-4E53-A310-24F0E735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63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FC304-F199-BA0F-15D4-D43BE6BA3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45697-776B-5E4F-4B80-361E73C43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02804-9B43-4681-EA0F-415F68B28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DE22D-0E4C-4424-8025-4AE152BF81F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F5952-3EDD-1979-736A-A80DBE1B3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FF3DC-A55B-04AE-8884-2853328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95A2-EA8B-4E53-A310-24F0E735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00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ACC6-A059-0F5F-B490-B0B262FBE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2520F-028E-0625-6A71-31CA65081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1732A8-5EC1-335E-B4B8-B2CDF60BA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DBDC1-EE1C-2CAB-90F8-EE8A461E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DE22D-0E4C-4424-8025-4AE152BF81F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F02B4-4508-B08C-895A-8309BE10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236E4-5F9E-4D6A-3079-B8184BF5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95A2-EA8B-4E53-A310-24F0E735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4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BBCD4-429E-A7F2-F3DB-DE8C07590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7965C-7DDE-85E1-5CE6-67BACAAF7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7AFC2-75E1-A7F2-28AA-6D5179DFC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B0A88-BE3B-EB03-7EA4-5FF737459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8020F1-CCF8-4ACD-4E72-8EEE959A8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50F67-C059-E64B-438E-0099ED3A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DE22D-0E4C-4424-8025-4AE152BF81F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CE7E3B-D196-DF8B-F611-94CDB85E4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453230-8227-9F2C-862D-417E8863D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95A2-EA8B-4E53-A310-24F0E735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643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FF6E-5821-BFB4-D8E7-F55E8681D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54CCEE-02DE-D067-51D6-520027A27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DE22D-0E4C-4424-8025-4AE152BF81F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0DA37-20AC-E09E-1501-DCAD133A1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2C0DD-DC8D-04F8-4B28-535C2469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95A2-EA8B-4E53-A310-24F0E735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379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27F22F-AE19-6CE6-EE95-91EF09CA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DE22D-0E4C-4424-8025-4AE152BF81F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EF4408-46BB-E357-CF8E-CF1E82F11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06A8C-3684-C8FE-1DEA-36FF296B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95A2-EA8B-4E53-A310-24F0E735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04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8E54-CDB1-23A1-7E10-BC1CCB7AA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D90F3-7E9C-0A29-3617-BB277544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A29B9-CEE6-42EC-4332-96E182202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3C50F-7E73-3E2D-38C6-CF15CEE8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DE22D-0E4C-4424-8025-4AE152BF81F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F094C-E4A3-CA57-EBD2-DF30D7CA9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E203B-9323-3BEB-5B76-6B78A243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95A2-EA8B-4E53-A310-24F0E735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046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E6D67-B206-6427-059D-9420240C3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46A0C9-502F-FF4D-132D-6FDED58CA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9ECB4-6211-1EB6-B980-800BD02A5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A5A72-12B9-184A-F095-DF1C05E1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DE22D-0E4C-4424-8025-4AE152BF81F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B3361-08DF-C871-3736-081A2F73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69711-E89C-0675-54FB-F691A893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95A2-EA8B-4E53-A310-24F0E735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66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D257-BB0A-8DA2-84AB-75F73438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AF087-93AD-652D-B8A1-012C8FA4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C880E-0B51-C8D1-F8B4-9F195DDAE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DE22D-0E4C-4424-8025-4AE152BF81F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20BDB-EF5D-9634-AEEE-6F1898A6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661D8-B964-5679-8843-4BA082A57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95A2-EA8B-4E53-A310-24F0E735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060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F9148E-21E3-D8D8-FD22-1B6AC99A4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53443-8956-1F66-0C01-07708D1C1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1CB07-CCD3-4553-EDAC-230DF1FDB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DE22D-0E4C-4424-8025-4AE152BF81F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C3F80-1602-95BD-51E7-6011F1D0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8679F-9B0E-080C-D53D-6DD7721B0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C95A2-EA8B-4E53-A310-24F0E735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08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627639-2C8A-1762-AEA5-E7DB922A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29C0E-CFCF-B27A-5F7B-6FABB5168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A6BCD-18ED-FD29-47EF-21F0ECA56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DE22D-0E4C-4424-8025-4AE152BF81F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B471F-F990-8EF4-31B7-9EC2752EB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DB5B4-C09B-ECC2-0D3D-0E95286C5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C95A2-EA8B-4E53-A310-24F0E735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85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hyperlink" Target="http://localhost:8501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>
            <a:spLocks noGrp="1"/>
          </p:cNvSpPr>
          <p:nvPr>
            <p:ph type="ctrTitle"/>
          </p:nvPr>
        </p:nvSpPr>
        <p:spPr>
          <a:xfrm>
            <a:off x="206477" y="0"/>
            <a:ext cx="11710220" cy="156464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English111 Vivace BT" panose="03030702030607090B03" pitchFamily="66" charset="0"/>
              </a:rPr>
              <a:t>BNMIT</a:t>
            </a:r>
            <a:br>
              <a:rPr lang="en-US" sz="1600" b="1" dirty="0">
                <a:solidFill>
                  <a:srgbClr val="000000"/>
                </a:solidFill>
                <a:latin typeface="Times New Roman" pitchFamily="18" charset="0"/>
              </a:rPr>
            </a:b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An Autonomous Institution under VTU</a:t>
            </a:r>
            <a:br>
              <a:rPr lang="en-US" sz="1300" dirty="0">
                <a:latin typeface="Times New Roman" pitchFamily="18" charset="0"/>
              </a:rPr>
            </a:br>
            <a:r>
              <a:rPr lang="en-US" sz="1200" b="1" dirty="0">
                <a:solidFill>
                  <a:srgbClr val="000000"/>
                </a:solidFill>
                <a:latin typeface="Times New Roman" pitchFamily="18" charset="0"/>
              </a:rPr>
              <a:t>Approved by AICTE, Accredited as Grade A Institution by NAAC. All eligible branches Accredited by NBA upto 30.06.2028</a:t>
            </a:r>
          </a:p>
        </p:txBody>
      </p:sp>
      <p:pic>
        <p:nvPicPr>
          <p:cNvPr id="4" name="Pic4"/>
          <p:cNvPicPr/>
          <p:nvPr/>
        </p:nvPicPr>
        <p:blipFill rotWithShape="1">
          <a:blip r:embed="rId3" cstate="print"/>
          <a:srcRect t="5523"/>
          <a:stretch/>
        </p:blipFill>
        <p:spPr bwMode="auto">
          <a:xfrm>
            <a:off x="206477" y="117987"/>
            <a:ext cx="1607128" cy="1360729"/>
          </a:xfrm>
          <a:prstGeom prst="rect">
            <a:avLst/>
          </a:prstGeom>
          <a:ln>
            <a:noFill/>
          </a:ln>
        </p:spPr>
      </p:pic>
      <p:sp>
        <p:nvSpPr>
          <p:cNvPr id="7" name="TB7"/>
          <p:cNvSpPr txBox="1"/>
          <p:nvPr/>
        </p:nvSpPr>
        <p:spPr>
          <a:xfrm>
            <a:off x="3337440" y="1704640"/>
            <a:ext cx="5100000" cy="578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lang="en-US" sz="3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 (23CSE163)</a:t>
            </a:r>
          </a:p>
        </p:txBody>
      </p:sp>
      <p:sp>
        <p:nvSpPr>
          <p:cNvPr id="10" name="TB10"/>
          <p:cNvSpPr txBox="1"/>
          <p:nvPr/>
        </p:nvSpPr>
        <p:spPr>
          <a:xfrm>
            <a:off x="661587" y="2754173"/>
            <a:ext cx="1080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0070C0"/>
                </a:solidFill>
                <a:latin typeface="Calibri" pitchFamily="34" charset="0"/>
              </a:rPr>
              <a:t>“Deep Learning-Based Solar Flare Prediction Using Solar Magnetogram Data”</a:t>
            </a:r>
          </a:p>
        </p:txBody>
      </p:sp>
      <p:sp>
        <p:nvSpPr>
          <p:cNvPr id="16" name="TB16"/>
          <p:cNvSpPr txBox="1"/>
          <p:nvPr/>
        </p:nvSpPr>
        <p:spPr>
          <a:xfrm>
            <a:off x="961587" y="4086157"/>
            <a:ext cx="10200000" cy="6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000" b="0" dirty="0">
                <a:solidFill>
                  <a:srgbClr val="000000"/>
                </a:solidFill>
                <a:latin typeface="Calibri" pitchFamily="34" charset="0"/>
              </a:rPr>
              <a:t>Nandu D                                                    Monisha K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000" b="0" dirty="0">
                <a:solidFill>
                  <a:srgbClr val="000000"/>
                </a:solidFill>
                <a:latin typeface="Calibri" pitchFamily="34" charset="0"/>
              </a:rPr>
              <a:t>1BG23CS088                                              1BG23CS085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361587" y="4919324"/>
            <a:ext cx="11400000" cy="1423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100" b="0" dirty="0">
                <a:solidFill>
                  <a:srgbClr val="C00000"/>
                </a:solidFill>
                <a:latin typeface="Calibri" pitchFamily="34" charset="0"/>
              </a:rPr>
              <a:t>Under the guidance of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100" b="1" dirty="0">
                <a:solidFill>
                  <a:srgbClr val="C00000"/>
                </a:solidFill>
                <a:latin typeface="Calibri" pitchFamily="34" charset="0"/>
              </a:rPr>
              <a:t>Prof. Priyanka S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100" b="0" dirty="0">
                <a:solidFill>
                  <a:srgbClr val="C00000"/>
                </a:solidFill>
                <a:latin typeface="Calibri" pitchFamily="34" charset="0"/>
              </a:rPr>
              <a:t>Assistant Professor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100" b="0" dirty="0">
                <a:solidFill>
                  <a:srgbClr val="C00000"/>
                </a:solidFill>
                <a:latin typeface="Calibri" pitchFamily="34" charset="0"/>
              </a:rPr>
              <a:t>Dept. of CSE, BNMIT,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un emits a solstice flare. Image from June 20, 2013. Source: NASA/SDO">
            <a:extLst>
              <a:ext uri="{FF2B5EF4-FFF2-40B4-BE49-F238E27FC236}">
                <a16:creationId xmlns:a16="http://schemas.microsoft.com/office/drawing/2014/main" id="{3C179195-026C-7CDA-6EAF-775F5821C2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45" t="21788" r="34839" b="23956"/>
          <a:stretch>
            <a:fillRect/>
          </a:stretch>
        </p:blipFill>
        <p:spPr bwMode="auto">
          <a:xfrm>
            <a:off x="4425096" y="1778035"/>
            <a:ext cx="3359273" cy="325157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Google Shape;904;p30">
            <a:extLst>
              <a:ext uri="{FF2B5EF4-FFF2-40B4-BE49-F238E27FC236}">
                <a16:creationId xmlns:a16="http://schemas.microsoft.com/office/drawing/2014/main" id="{5D037CB4-C748-174B-076B-9C3CD97A5722}"/>
              </a:ext>
            </a:extLst>
          </p:cNvPr>
          <p:cNvSpPr/>
          <p:nvPr/>
        </p:nvSpPr>
        <p:spPr>
          <a:xfrm>
            <a:off x="7658509" y="3914278"/>
            <a:ext cx="406260" cy="406260"/>
          </a:xfrm>
          <a:custGeom>
            <a:avLst/>
            <a:gdLst/>
            <a:ahLst/>
            <a:cxnLst/>
            <a:rect l="l" t="t" r="r" b="b"/>
            <a:pathLst>
              <a:path w="15515" h="15515" extrusionOk="0">
                <a:moveTo>
                  <a:pt x="7751" y="1"/>
                </a:moveTo>
                <a:cubicBezTo>
                  <a:pt x="3465" y="1"/>
                  <a:pt x="0" y="3465"/>
                  <a:pt x="0" y="7752"/>
                </a:cubicBezTo>
                <a:cubicBezTo>
                  <a:pt x="0" y="12038"/>
                  <a:pt x="3465" y="15514"/>
                  <a:pt x="7751" y="15514"/>
                </a:cubicBezTo>
                <a:cubicBezTo>
                  <a:pt x="12038" y="15514"/>
                  <a:pt x="15514" y="12038"/>
                  <a:pt x="15514" y="7752"/>
                </a:cubicBezTo>
                <a:cubicBezTo>
                  <a:pt x="15514" y="3465"/>
                  <a:pt x="12038" y="1"/>
                  <a:pt x="7751" y="1"/>
                </a:cubicBezTo>
                <a:close/>
              </a:path>
            </a:pathLst>
          </a:custGeom>
          <a:solidFill>
            <a:srgbClr val="700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16" name="Google Shape;905;p30">
            <a:extLst>
              <a:ext uri="{FF2B5EF4-FFF2-40B4-BE49-F238E27FC236}">
                <a16:creationId xmlns:a16="http://schemas.microsoft.com/office/drawing/2014/main" id="{F87FDB32-EE0C-BFC7-9A5E-28E3D058DCD5}"/>
              </a:ext>
            </a:extLst>
          </p:cNvPr>
          <p:cNvSpPr/>
          <p:nvPr/>
        </p:nvSpPr>
        <p:spPr>
          <a:xfrm>
            <a:off x="7708080" y="3964003"/>
            <a:ext cx="306810" cy="306810"/>
          </a:xfrm>
          <a:custGeom>
            <a:avLst/>
            <a:gdLst/>
            <a:ahLst/>
            <a:cxnLst/>
            <a:rect l="l" t="t" r="r" b="b"/>
            <a:pathLst>
              <a:path w="11717" h="11717" extrusionOk="0">
                <a:moveTo>
                  <a:pt x="5858" y="1"/>
                </a:moveTo>
                <a:cubicBezTo>
                  <a:pt x="2632" y="1"/>
                  <a:pt x="1" y="2632"/>
                  <a:pt x="1" y="5859"/>
                </a:cubicBezTo>
                <a:cubicBezTo>
                  <a:pt x="1" y="9097"/>
                  <a:pt x="2632" y="11716"/>
                  <a:pt x="5858" y="11716"/>
                </a:cubicBezTo>
                <a:cubicBezTo>
                  <a:pt x="9097" y="11716"/>
                  <a:pt x="11716" y="9097"/>
                  <a:pt x="11716" y="5859"/>
                </a:cubicBezTo>
                <a:cubicBezTo>
                  <a:pt x="11716" y="2632"/>
                  <a:pt x="9097" y="1"/>
                  <a:pt x="585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17" name="Google Shape;906;p30">
            <a:extLst>
              <a:ext uri="{FF2B5EF4-FFF2-40B4-BE49-F238E27FC236}">
                <a16:creationId xmlns:a16="http://schemas.microsoft.com/office/drawing/2014/main" id="{F17037FF-7EE0-74B3-C83D-6AA05FA04349}"/>
              </a:ext>
            </a:extLst>
          </p:cNvPr>
          <p:cNvSpPr txBox="1"/>
          <p:nvPr/>
        </p:nvSpPr>
        <p:spPr>
          <a:xfrm>
            <a:off x="8460455" y="3676526"/>
            <a:ext cx="3713709" cy="142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None/>
            </a:pPr>
            <a:r>
              <a:rPr lang="en-IN" sz="1600" dirty="0">
                <a:latin typeface="Arial Black" panose="020B0A04020102020204" pitchFamily="34" charset="0"/>
              </a:rPr>
              <a:t>Dataset: </a:t>
            </a:r>
            <a:r>
              <a:rPr lang="en-IN" sz="1600" b="1" dirty="0">
                <a:latin typeface="Arial Black" panose="020B0A04020102020204" pitchFamily="34" charset="0"/>
              </a:rPr>
              <a:t>JSOC images + NOAA solar activity data</a:t>
            </a:r>
          </a:p>
          <a:p>
            <a:pPr algn="ctr"/>
            <a:r>
              <a:rPr lang="en-IN" sz="1600" dirty="0">
                <a:latin typeface="Arial Black" panose="020B0A04020102020204" pitchFamily="34" charset="0"/>
              </a:rPr>
              <a:t>Model predicts: </a:t>
            </a:r>
            <a:r>
              <a:rPr lang="en-IN" sz="1600" b="1" dirty="0">
                <a:latin typeface="Arial Black" panose="020B0A04020102020204" pitchFamily="34" charset="0"/>
              </a:rPr>
              <a:t>Flare / No Flare</a:t>
            </a:r>
            <a:endParaRPr lang="en-IN" sz="1600" dirty="0">
              <a:latin typeface="Arial Black" panose="020B0A04020102020204" pitchFamily="34" charset="0"/>
            </a:endParaRPr>
          </a:p>
          <a:p>
            <a:pPr lvl="0" algn="ctr">
              <a:buNone/>
            </a:pPr>
            <a:endParaRPr lang="en-IN" sz="1600" b="1" dirty="0">
              <a:latin typeface="Arial Black" panose="020B0A04020102020204" pitchFamily="34" charset="0"/>
            </a:endParaRPr>
          </a:p>
          <a:p>
            <a:pPr lvl="0" algn="ctr">
              <a:buNone/>
            </a:pPr>
            <a:endParaRPr lang="en-IN" sz="1600" dirty="0">
              <a:latin typeface="Arial Black" panose="020B0A04020102020204" pitchFamily="34" charset="0"/>
            </a:endParaRPr>
          </a:p>
        </p:txBody>
      </p:sp>
      <p:sp>
        <p:nvSpPr>
          <p:cNvPr id="120" name="Google Shape;909;p30">
            <a:extLst>
              <a:ext uri="{FF2B5EF4-FFF2-40B4-BE49-F238E27FC236}">
                <a16:creationId xmlns:a16="http://schemas.microsoft.com/office/drawing/2014/main" id="{C333E02D-6265-FDDA-8DC9-06F91899EDA4}"/>
              </a:ext>
            </a:extLst>
          </p:cNvPr>
          <p:cNvSpPr/>
          <p:nvPr/>
        </p:nvSpPr>
        <p:spPr>
          <a:xfrm>
            <a:off x="5938635" y="5028262"/>
            <a:ext cx="406260" cy="406260"/>
          </a:xfrm>
          <a:custGeom>
            <a:avLst/>
            <a:gdLst/>
            <a:ahLst/>
            <a:cxnLst/>
            <a:rect l="l" t="t" r="r" b="b"/>
            <a:pathLst>
              <a:path w="15515" h="15515" extrusionOk="0">
                <a:moveTo>
                  <a:pt x="7764" y="0"/>
                </a:moveTo>
                <a:cubicBezTo>
                  <a:pt x="3477" y="0"/>
                  <a:pt x="1" y="3477"/>
                  <a:pt x="1" y="7763"/>
                </a:cubicBezTo>
                <a:cubicBezTo>
                  <a:pt x="1" y="12038"/>
                  <a:pt x="3477" y="15514"/>
                  <a:pt x="7764" y="15514"/>
                </a:cubicBezTo>
                <a:cubicBezTo>
                  <a:pt x="12038" y="15514"/>
                  <a:pt x="15515" y="12038"/>
                  <a:pt x="15515" y="7763"/>
                </a:cubicBezTo>
                <a:cubicBezTo>
                  <a:pt x="15515" y="3477"/>
                  <a:pt x="12038" y="0"/>
                  <a:pt x="7764" y="0"/>
                </a:cubicBezTo>
                <a:close/>
              </a:path>
            </a:pathLst>
          </a:custGeom>
          <a:solidFill>
            <a:srgbClr val="700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21" name="Google Shape;910;p30">
            <a:extLst>
              <a:ext uri="{FF2B5EF4-FFF2-40B4-BE49-F238E27FC236}">
                <a16:creationId xmlns:a16="http://schemas.microsoft.com/office/drawing/2014/main" id="{DBB86FE9-4BF3-7E58-A22F-C1CCFAEA925E}"/>
              </a:ext>
            </a:extLst>
          </p:cNvPr>
          <p:cNvSpPr/>
          <p:nvPr/>
        </p:nvSpPr>
        <p:spPr>
          <a:xfrm>
            <a:off x="5988520" y="5078147"/>
            <a:ext cx="306495" cy="306495"/>
          </a:xfrm>
          <a:custGeom>
            <a:avLst/>
            <a:gdLst/>
            <a:ahLst/>
            <a:cxnLst/>
            <a:rect l="l" t="t" r="r" b="b"/>
            <a:pathLst>
              <a:path w="11705" h="11705" extrusionOk="0">
                <a:moveTo>
                  <a:pt x="5859" y="0"/>
                </a:moveTo>
                <a:cubicBezTo>
                  <a:pt x="2620" y="0"/>
                  <a:pt x="1" y="2620"/>
                  <a:pt x="1" y="5858"/>
                </a:cubicBezTo>
                <a:cubicBezTo>
                  <a:pt x="1" y="9085"/>
                  <a:pt x="2620" y="11704"/>
                  <a:pt x="5859" y="11704"/>
                </a:cubicBezTo>
                <a:cubicBezTo>
                  <a:pt x="9085" y="11704"/>
                  <a:pt x="11705" y="9085"/>
                  <a:pt x="11705" y="5858"/>
                </a:cubicBezTo>
                <a:cubicBezTo>
                  <a:pt x="11705" y="2620"/>
                  <a:pt x="9085" y="0"/>
                  <a:pt x="58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22" name="Google Shape;911;p30">
            <a:extLst>
              <a:ext uri="{FF2B5EF4-FFF2-40B4-BE49-F238E27FC236}">
                <a16:creationId xmlns:a16="http://schemas.microsoft.com/office/drawing/2014/main" id="{28FBE6F7-299A-508E-957A-960F5283F724}"/>
              </a:ext>
            </a:extLst>
          </p:cNvPr>
          <p:cNvSpPr txBox="1"/>
          <p:nvPr/>
        </p:nvSpPr>
        <p:spPr>
          <a:xfrm>
            <a:off x="4522460" y="5750242"/>
            <a:ext cx="3599952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None/>
            </a:pPr>
            <a:r>
              <a:rPr lang="en-US" sz="1600" dirty="0">
                <a:latin typeface="Arial Black" panose="020B0A04020102020204" pitchFamily="34" charset="0"/>
              </a:rPr>
              <a:t>This project uses </a:t>
            </a:r>
            <a:r>
              <a:rPr lang="en-US" sz="1600" b="1" dirty="0">
                <a:latin typeface="Arial Black" panose="020B0A04020102020204" pitchFamily="34" charset="0"/>
              </a:rPr>
              <a:t>Deep Learning (CNN)</a:t>
            </a:r>
            <a:r>
              <a:rPr lang="en-US" sz="1600" dirty="0">
                <a:latin typeface="Arial Black" panose="020B0A04020102020204" pitchFamily="34" charset="0"/>
              </a:rPr>
              <a:t> on solar magnetogram images.</a:t>
            </a:r>
            <a:endParaRPr lang="en-IN" sz="1600" dirty="0">
              <a:latin typeface="Arial Black" panose="020B0A04020102020204" pitchFamily="34" charset="0"/>
            </a:endParaRPr>
          </a:p>
        </p:txBody>
      </p:sp>
      <p:sp>
        <p:nvSpPr>
          <p:cNvPr id="125" name="Google Shape;914;p30">
            <a:extLst>
              <a:ext uri="{FF2B5EF4-FFF2-40B4-BE49-F238E27FC236}">
                <a16:creationId xmlns:a16="http://schemas.microsoft.com/office/drawing/2014/main" id="{24447813-DE0F-24D8-6CF2-DE447708629C}"/>
              </a:ext>
            </a:extLst>
          </p:cNvPr>
          <p:cNvSpPr/>
          <p:nvPr/>
        </p:nvSpPr>
        <p:spPr>
          <a:xfrm>
            <a:off x="4247629" y="4060359"/>
            <a:ext cx="406234" cy="406260"/>
          </a:xfrm>
          <a:custGeom>
            <a:avLst/>
            <a:gdLst/>
            <a:ahLst/>
            <a:cxnLst/>
            <a:rect l="l" t="t" r="r" b="b"/>
            <a:pathLst>
              <a:path w="15514" h="15515" extrusionOk="0">
                <a:moveTo>
                  <a:pt x="7751" y="1"/>
                </a:moveTo>
                <a:cubicBezTo>
                  <a:pt x="3465" y="1"/>
                  <a:pt x="0" y="3465"/>
                  <a:pt x="0" y="7752"/>
                </a:cubicBezTo>
                <a:cubicBezTo>
                  <a:pt x="0" y="12038"/>
                  <a:pt x="3465" y="15514"/>
                  <a:pt x="7751" y="15514"/>
                </a:cubicBezTo>
                <a:cubicBezTo>
                  <a:pt x="12037" y="15514"/>
                  <a:pt x="15514" y="12038"/>
                  <a:pt x="15514" y="7752"/>
                </a:cubicBezTo>
                <a:cubicBezTo>
                  <a:pt x="15514" y="3465"/>
                  <a:pt x="12037" y="1"/>
                  <a:pt x="7751" y="1"/>
                </a:cubicBezTo>
                <a:close/>
              </a:path>
            </a:pathLst>
          </a:custGeom>
          <a:solidFill>
            <a:srgbClr val="700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26" name="Google Shape;915;p30">
            <a:extLst>
              <a:ext uri="{FF2B5EF4-FFF2-40B4-BE49-F238E27FC236}">
                <a16:creationId xmlns:a16="http://schemas.microsoft.com/office/drawing/2014/main" id="{6E3995CF-51AE-5545-4DDC-C6D2F0C170FB}"/>
              </a:ext>
            </a:extLst>
          </p:cNvPr>
          <p:cNvSpPr/>
          <p:nvPr/>
        </p:nvSpPr>
        <p:spPr>
          <a:xfrm>
            <a:off x="4297514" y="4110084"/>
            <a:ext cx="306469" cy="306810"/>
          </a:xfrm>
          <a:custGeom>
            <a:avLst/>
            <a:gdLst/>
            <a:ahLst/>
            <a:cxnLst/>
            <a:rect l="l" t="t" r="r" b="b"/>
            <a:pathLst>
              <a:path w="11704" h="11717" extrusionOk="0">
                <a:moveTo>
                  <a:pt x="5846" y="1"/>
                </a:moveTo>
                <a:cubicBezTo>
                  <a:pt x="2620" y="1"/>
                  <a:pt x="0" y="2632"/>
                  <a:pt x="0" y="5859"/>
                </a:cubicBezTo>
                <a:cubicBezTo>
                  <a:pt x="0" y="9097"/>
                  <a:pt x="2620" y="11716"/>
                  <a:pt x="5846" y="11716"/>
                </a:cubicBezTo>
                <a:cubicBezTo>
                  <a:pt x="9085" y="11716"/>
                  <a:pt x="11704" y="9097"/>
                  <a:pt x="11704" y="5859"/>
                </a:cubicBezTo>
                <a:cubicBezTo>
                  <a:pt x="11704" y="2632"/>
                  <a:pt x="9085" y="1"/>
                  <a:pt x="584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27" name="Google Shape;916;p30">
            <a:extLst>
              <a:ext uri="{FF2B5EF4-FFF2-40B4-BE49-F238E27FC236}">
                <a16:creationId xmlns:a16="http://schemas.microsoft.com/office/drawing/2014/main" id="{6778AA6C-A813-E3C4-3314-3B7C52213513}"/>
              </a:ext>
            </a:extLst>
          </p:cNvPr>
          <p:cNvSpPr txBox="1"/>
          <p:nvPr/>
        </p:nvSpPr>
        <p:spPr>
          <a:xfrm>
            <a:off x="488474" y="4534003"/>
            <a:ext cx="3505563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dirty="0">
                <a:latin typeface="Arial Black" panose="020B0A04020102020204" pitchFamily="34" charset="0"/>
              </a:rPr>
              <a:t>Existing methods rely on manual/statistical approaches and miss complex patterns.</a:t>
            </a:r>
            <a:endParaRPr lang="en-IN" sz="1600" dirty="0">
              <a:latin typeface="Arial Black" panose="020B0A040201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0" name="Google Shape;919;p30">
            <a:extLst>
              <a:ext uri="{FF2B5EF4-FFF2-40B4-BE49-F238E27FC236}">
                <a16:creationId xmlns:a16="http://schemas.microsoft.com/office/drawing/2014/main" id="{0D6E0234-AEFA-380C-857D-C0C77157DFD6}"/>
              </a:ext>
            </a:extLst>
          </p:cNvPr>
          <p:cNvSpPr/>
          <p:nvPr/>
        </p:nvSpPr>
        <p:spPr>
          <a:xfrm>
            <a:off x="4196666" y="2349178"/>
            <a:ext cx="406234" cy="406234"/>
          </a:xfrm>
          <a:custGeom>
            <a:avLst/>
            <a:gdLst/>
            <a:ahLst/>
            <a:cxnLst/>
            <a:rect l="l" t="t" r="r" b="b"/>
            <a:pathLst>
              <a:path w="15514" h="15514" extrusionOk="0">
                <a:moveTo>
                  <a:pt x="7751" y="0"/>
                </a:moveTo>
                <a:cubicBezTo>
                  <a:pt x="3465" y="0"/>
                  <a:pt x="0" y="3465"/>
                  <a:pt x="0" y="7751"/>
                </a:cubicBezTo>
                <a:cubicBezTo>
                  <a:pt x="0" y="12037"/>
                  <a:pt x="3465" y="15514"/>
                  <a:pt x="7751" y="15514"/>
                </a:cubicBezTo>
                <a:cubicBezTo>
                  <a:pt x="12037" y="15514"/>
                  <a:pt x="15514" y="12037"/>
                  <a:pt x="15514" y="7751"/>
                </a:cubicBezTo>
                <a:cubicBezTo>
                  <a:pt x="15514" y="3465"/>
                  <a:pt x="12037" y="0"/>
                  <a:pt x="7751" y="0"/>
                </a:cubicBezTo>
                <a:close/>
              </a:path>
            </a:pathLst>
          </a:custGeom>
          <a:solidFill>
            <a:srgbClr val="700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31" name="Google Shape;920;p30">
            <a:extLst>
              <a:ext uri="{FF2B5EF4-FFF2-40B4-BE49-F238E27FC236}">
                <a16:creationId xmlns:a16="http://schemas.microsoft.com/office/drawing/2014/main" id="{798471B9-7795-3B0E-0417-FDEA5F27DCE5}"/>
              </a:ext>
            </a:extLst>
          </p:cNvPr>
          <p:cNvSpPr/>
          <p:nvPr/>
        </p:nvSpPr>
        <p:spPr>
          <a:xfrm>
            <a:off x="4246551" y="2399060"/>
            <a:ext cx="306469" cy="306469"/>
          </a:xfrm>
          <a:custGeom>
            <a:avLst/>
            <a:gdLst/>
            <a:ahLst/>
            <a:cxnLst/>
            <a:rect l="l" t="t" r="r" b="b"/>
            <a:pathLst>
              <a:path w="11704" h="11704" extrusionOk="0">
                <a:moveTo>
                  <a:pt x="5846" y="0"/>
                </a:moveTo>
                <a:cubicBezTo>
                  <a:pt x="2620" y="0"/>
                  <a:pt x="0" y="2620"/>
                  <a:pt x="0" y="5846"/>
                </a:cubicBezTo>
                <a:cubicBezTo>
                  <a:pt x="0" y="9085"/>
                  <a:pt x="2620" y="11704"/>
                  <a:pt x="5846" y="11704"/>
                </a:cubicBezTo>
                <a:cubicBezTo>
                  <a:pt x="9085" y="11704"/>
                  <a:pt x="11704" y="9085"/>
                  <a:pt x="11704" y="5846"/>
                </a:cubicBezTo>
                <a:cubicBezTo>
                  <a:pt x="11704" y="2620"/>
                  <a:pt x="9085" y="0"/>
                  <a:pt x="584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32" name="Google Shape;921;p30">
            <a:extLst>
              <a:ext uri="{FF2B5EF4-FFF2-40B4-BE49-F238E27FC236}">
                <a16:creationId xmlns:a16="http://schemas.microsoft.com/office/drawing/2014/main" id="{73F077A9-4573-6AAF-DC6B-495066A883BF}"/>
              </a:ext>
            </a:extLst>
          </p:cNvPr>
          <p:cNvSpPr txBox="1"/>
          <p:nvPr/>
        </p:nvSpPr>
        <p:spPr>
          <a:xfrm>
            <a:off x="513711" y="2111430"/>
            <a:ext cx="3376739" cy="42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1600" dirty="0">
                <a:latin typeface="Arial Black" panose="020B0A04020102020204" pitchFamily="34" charset="0"/>
              </a:rPr>
              <a:t>Solar flares are high-energy bursts from the Sun that affect satellites, communication, and power systems. </a:t>
            </a:r>
            <a:endParaRPr lang="en-IN" sz="1600" dirty="0">
              <a:latin typeface="Arial Black" panose="020B0A04020102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5" name="Google Shape;924;p30">
            <a:extLst>
              <a:ext uri="{FF2B5EF4-FFF2-40B4-BE49-F238E27FC236}">
                <a16:creationId xmlns:a16="http://schemas.microsoft.com/office/drawing/2014/main" id="{6C93AD39-0A88-38FD-1112-A535E29457FF}"/>
              </a:ext>
            </a:extLst>
          </p:cNvPr>
          <p:cNvSpPr/>
          <p:nvPr/>
        </p:nvSpPr>
        <p:spPr>
          <a:xfrm>
            <a:off x="7589101" y="2399061"/>
            <a:ext cx="406260" cy="406234"/>
          </a:xfrm>
          <a:custGeom>
            <a:avLst/>
            <a:gdLst/>
            <a:ahLst/>
            <a:cxnLst/>
            <a:rect l="l" t="t" r="r" b="b"/>
            <a:pathLst>
              <a:path w="15515" h="15514" extrusionOk="0">
                <a:moveTo>
                  <a:pt x="7751" y="0"/>
                </a:moveTo>
                <a:cubicBezTo>
                  <a:pt x="3465" y="0"/>
                  <a:pt x="0" y="3465"/>
                  <a:pt x="0" y="7751"/>
                </a:cubicBezTo>
                <a:cubicBezTo>
                  <a:pt x="0" y="12037"/>
                  <a:pt x="3465" y="15514"/>
                  <a:pt x="7751" y="15514"/>
                </a:cubicBezTo>
                <a:cubicBezTo>
                  <a:pt x="12038" y="15514"/>
                  <a:pt x="15514" y="12037"/>
                  <a:pt x="15514" y="7751"/>
                </a:cubicBezTo>
                <a:cubicBezTo>
                  <a:pt x="15514" y="3465"/>
                  <a:pt x="12038" y="0"/>
                  <a:pt x="7751" y="0"/>
                </a:cubicBezTo>
                <a:close/>
              </a:path>
            </a:pathLst>
          </a:custGeom>
          <a:solidFill>
            <a:srgbClr val="700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36" name="Google Shape;925;p30">
            <a:extLst>
              <a:ext uri="{FF2B5EF4-FFF2-40B4-BE49-F238E27FC236}">
                <a16:creationId xmlns:a16="http://schemas.microsoft.com/office/drawing/2014/main" id="{FD7A7298-F8D7-79BF-7A30-32DAE0035B8A}"/>
              </a:ext>
            </a:extLst>
          </p:cNvPr>
          <p:cNvSpPr/>
          <p:nvPr/>
        </p:nvSpPr>
        <p:spPr>
          <a:xfrm>
            <a:off x="7638672" y="2448943"/>
            <a:ext cx="306810" cy="306469"/>
          </a:xfrm>
          <a:custGeom>
            <a:avLst/>
            <a:gdLst/>
            <a:ahLst/>
            <a:cxnLst/>
            <a:rect l="l" t="t" r="r" b="b"/>
            <a:pathLst>
              <a:path w="11717" h="11704" extrusionOk="0">
                <a:moveTo>
                  <a:pt x="5858" y="0"/>
                </a:moveTo>
                <a:cubicBezTo>
                  <a:pt x="2632" y="0"/>
                  <a:pt x="1" y="2620"/>
                  <a:pt x="1" y="5846"/>
                </a:cubicBezTo>
                <a:cubicBezTo>
                  <a:pt x="1" y="9085"/>
                  <a:pt x="2632" y="11704"/>
                  <a:pt x="5858" y="11704"/>
                </a:cubicBezTo>
                <a:cubicBezTo>
                  <a:pt x="9097" y="11704"/>
                  <a:pt x="11716" y="9085"/>
                  <a:pt x="11716" y="5846"/>
                </a:cubicBezTo>
                <a:cubicBezTo>
                  <a:pt x="11716" y="2620"/>
                  <a:pt x="9097" y="0"/>
                  <a:pt x="585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138" name="Google Shape;927;p30">
            <a:extLst>
              <a:ext uri="{FF2B5EF4-FFF2-40B4-BE49-F238E27FC236}">
                <a16:creationId xmlns:a16="http://schemas.microsoft.com/office/drawing/2014/main" id="{F039BF8E-6BE3-537C-85B2-0DA447E3EB68}"/>
              </a:ext>
            </a:extLst>
          </p:cNvPr>
          <p:cNvSpPr txBox="1"/>
          <p:nvPr/>
        </p:nvSpPr>
        <p:spPr>
          <a:xfrm>
            <a:off x="8319015" y="1493181"/>
            <a:ext cx="2788158" cy="121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None/>
            </a:pPr>
            <a:r>
              <a:rPr lang="en-US" sz="1600" dirty="0">
                <a:latin typeface="Arial Black" panose="020B0A04020102020204" pitchFamily="34" charset="0"/>
              </a:rPr>
              <a:t>System deployed using </a:t>
            </a:r>
            <a:r>
              <a:rPr lang="en-US" sz="1600" b="1" dirty="0" err="1">
                <a:latin typeface="Arial Black" panose="020B0A04020102020204" pitchFamily="34" charset="0"/>
              </a:rPr>
              <a:t>Streamlit</a:t>
            </a:r>
            <a:r>
              <a:rPr lang="en-US" sz="1600" b="1" dirty="0">
                <a:latin typeface="Arial Black" panose="020B0A04020102020204" pitchFamily="34" charset="0"/>
              </a:rPr>
              <a:t> for real-time prediction</a:t>
            </a:r>
            <a:endParaRPr lang="en-IN" sz="1600" dirty="0">
              <a:latin typeface="Arial Black" panose="020B0A04020102020204" pitchFamily="34" charset="0"/>
            </a:endParaRPr>
          </a:p>
        </p:txBody>
      </p:sp>
      <p:sp>
        <p:nvSpPr>
          <p:cNvPr id="152" name="T2">
            <a:extLst>
              <a:ext uri="{FF2B5EF4-FFF2-40B4-BE49-F238E27FC236}">
                <a16:creationId xmlns:a16="http://schemas.microsoft.com/office/drawing/2014/main" id="{C97FD314-3854-063D-B1A0-D536368C3A89}"/>
              </a:ext>
            </a:extLst>
          </p:cNvPr>
          <p:cNvSpPr txBox="1"/>
          <p:nvPr/>
        </p:nvSpPr>
        <p:spPr>
          <a:xfrm>
            <a:off x="457200" y="180000"/>
            <a:ext cx="11485756" cy="9382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5400" b="1" dirty="0">
                <a:latin typeface="Algerian" panose="04020705040A02060702" pitchFamily="82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81880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122" grpId="0"/>
      <p:bldP spid="127" grpId="0"/>
      <p:bldP spid="132" grpId="0"/>
      <p:bldP spid="1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BF77-FF1B-372E-B101-E8D647B11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2">
            <a:extLst>
              <a:ext uri="{FF2B5EF4-FFF2-40B4-BE49-F238E27FC236}">
                <a16:creationId xmlns:a16="http://schemas.microsoft.com/office/drawing/2014/main" id="{311B1653-C7FC-AFFE-E8D2-140E4AD4B2C6}"/>
              </a:ext>
            </a:extLst>
          </p:cNvPr>
          <p:cNvSpPr txBox="1"/>
          <p:nvPr/>
        </p:nvSpPr>
        <p:spPr>
          <a:xfrm>
            <a:off x="335896" y="74721"/>
            <a:ext cx="11277600" cy="57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4800" b="1" dirty="0">
                <a:latin typeface="Algerian" panose="04020705040A02060702" pitchFamily="82" charset="0"/>
              </a:rPr>
              <a:t>LITERATURE SURVEY</a:t>
            </a:r>
            <a:endParaRPr lang="en-US" sz="4800" b="1" dirty="0">
              <a:solidFill>
                <a:srgbClr val="000000"/>
              </a:solidFill>
              <a:latin typeface="Algerian" panose="04020705040A02060702" pitchFamily="8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70BFDF-00CA-8F12-5B79-A58309E4D5CB}"/>
              </a:ext>
            </a:extLst>
          </p:cNvPr>
          <p:cNvSpPr txBox="1"/>
          <p:nvPr/>
        </p:nvSpPr>
        <p:spPr>
          <a:xfrm>
            <a:off x="335896" y="5914589"/>
            <a:ext cx="10156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>
                <a:latin typeface="Arial Black" panose="020B0A04020102020204" pitchFamily="34" charset="0"/>
              </a:rPr>
              <a:t>CNN-based models perform better for image-based solar flare prediction.</a:t>
            </a:r>
          </a:p>
        </p:txBody>
      </p:sp>
      <p:sp>
        <p:nvSpPr>
          <p:cNvPr id="34" name="Google Shape;2769;p44">
            <a:extLst>
              <a:ext uri="{FF2B5EF4-FFF2-40B4-BE49-F238E27FC236}">
                <a16:creationId xmlns:a16="http://schemas.microsoft.com/office/drawing/2014/main" id="{808B3EC5-CAA7-3F60-5FE9-8E4CE74BC684}"/>
              </a:ext>
            </a:extLst>
          </p:cNvPr>
          <p:cNvSpPr/>
          <p:nvPr/>
        </p:nvSpPr>
        <p:spPr>
          <a:xfrm>
            <a:off x="3455016" y="1001308"/>
            <a:ext cx="1778185" cy="369331"/>
          </a:xfrm>
          <a:prstGeom prst="roundRect">
            <a:avLst>
              <a:gd name="adj" fmla="val 16667"/>
            </a:avLst>
          </a:prstGeom>
          <a:solidFill>
            <a:srgbClr val="21818A"/>
          </a:solidFill>
          <a:ln>
            <a:solidFill>
              <a:srgbClr val="21818A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PAPER</a:t>
            </a:r>
          </a:p>
        </p:txBody>
      </p:sp>
      <p:sp>
        <p:nvSpPr>
          <p:cNvPr id="88" name="Google Shape;2734;p44">
            <a:extLst>
              <a:ext uri="{FF2B5EF4-FFF2-40B4-BE49-F238E27FC236}">
                <a16:creationId xmlns:a16="http://schemas.microsoft.com/office/drawing/2014/main" id="{E4637FA7-5FB0-1EBA-DCD1-DB737ED5FF5B}"/>
              </a:ext>
            </a:extLst>
          </p:cNvPr>
          <p:cNvSpPr/>
          <p:nvPr/>
        </p:nvSpPr>
        <p:spPr>
          <a:xfrm>
            <a:off x="5377023" y="1617898"/>
            <a:ext cx="1906990" cy="3693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latin typeface="Arial Black" panose="020B0A04020102020204" pitchFamily="34" charset="0"/>
              </a:rPr>
              <a:t>ML + SVM</a:t>
            </a:r>
            <a:endParaRPr sz="1200" dirty="0">
              <a:latin typeface="Arial Black" panose="020B0A04020102020204" pitchFamily="34" charset="0"/>
            </a:endParaRPr>
          </a:p>
        </p:txBody>
      </p:sp>
      <p:sp>
        <p:nvSpPr>
          <p:cNvPr id="89" name="Google Shape;2736;p44">
            <a:extLst>
              <a:ext uri="{FF2B5EF4-FFF2-40B4-BE49-F238E27FC236}">
                <a16:creationId xmlns:a16="http://schemas.microsoft.com/office/drawing/2014/main" id="{380E7F57-240A-CA86-1C04-101D0C78A030}"/>
              </a:ext>
            </a:extLst>
          </p:cNvPr>
          <p:cNvSpPr/>
          <p:nvPr/>
        </p:nvSpPr>
        <p:spPr>
          <a:xfrm>
            <a:off x="5377023" y="2122705"/>
            <a:ext cx="1906990" cy="3693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latin typeface="Arial Black" panose="020B0A04020102020204" pitchFamily="34" charset="0"/>
              </a:rPr>
              <a:t>Deep Neural Network</a:t>
            </a:r>
            <a:endParaRPr sz="1200" dirty="0">
              <a:latin typeface="Arial Black" panose="020B0A04020102020204" pitchFamily="34" charset="0"/>
            </a:endParaRPr>
          </a:p>
        </p:txBody>
      </p:sp>
      <p:sp>
        <p:nvSpPr>
          <p:cNvPr id="90" name="Google Shape;2738;p44">
            <a:extLst>
              <a:ext uri="{FF2B5EF4-FFF2-40B4-BE49-F238E27FC236}">
                <a16:creationId xmlns:a16="http://schemas.microsoft.com/office/drawing/2014/main" id="{2FBEEDD0-DA19-AB3E-97E3-6C5C064E8D91}"/>
              </a:ext>
            </a:extLst>
          </p:cNvPr>
          <p:cNvSpPr/>
          <p:nvPr/>
        </p:nvSpPr>
        <p:spPr>
          <a:xfrm>
            <a:off x="5377023" y="2696684"/>
            <a:ext cx="1906990" cy="3693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Arial Black" panose="020B0A04020102020204" pitchFamily="34" charset="0"/>
              </a:rPr>
              <a:t>CNN</a:t>
            </a:r>
            <a:endParaRPr sz="1200" dirty="0">
              <a:latin typeface="Arial Black" panose="020B0A04020102020204" pitchFamily="34" charset="0"/>
            </a:endParaRPr>
          </a:p>
        </p:txBody>
      </p:sp>
      <p:sp>
        <p:nvSpPr>
          <p:cNvPr id="91" name="Google Shape;2740;p44">
            <a:extLst>
              <a:ext uri="{FF2B5EF4-FFF2-40B4-BE49-F238E27FC236}">
                <a16:creationId xmlns:a16="http://schemas.microsoft.com/office/drawing/2014/main" id="{61301C0B-EC47-1796-9B44-0D0DDFF947B4}"/>
              </a:ext>
            </a:extLst>
          </p:cNvPr>
          <p:cNvSpPr/>
          <p:nvPr/>
        </p:nvSpPr>
        <p:spPr>
          <a:xfrm>
            <a:off x="5377023" y="3285858"/>
            <a:ext cx="1906990" cy="3693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latin typeface="Arial Black" panose="020B0A04020102020204" pitchFamily="34" charset="0"/>
              </a:rPr>
              <a:t>SVM</a:t>
            </a:r>
            <a:endParaRPr sz="1200" dirty="0">
              <a:latin typeface="Arial Black" panose="020B0A04020102020204" pitchFamily="34" charset="0"/>
            </a:endParaRPr>
          </a:p>
        </p:txBody>
      </p:sp>
      <p:sp>
        <p:nvSpPr>
          <p:cNvPr id="92" name="Google Shape;2742;p44">
            <a:extLst>
              <a:ext uri="{FF2B5EF4-FFF2-40B4-BE49-F238E27FC236}">
                <a16:creationId xmlns:a16="http://schemas.microsoft.com/office/drawing/2014/main" id="{93B775D7-EA80-0BDD-D707-2E56221F9943}"/>
              </a:ext>
            </a:extLst>
          </p:cNvPr>
          <p:cNvSpPr/>
          <p:nvPr/>
        </p:nvSpPr>
        <p:spPr>
          <a:xfrm>
            <a:off x="7427858" y="1619707"/>
            <a:ext cx="1778185" cy="3693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latin typeface="Arial Black" panose="020B0A04020102020204" pitchFamily="34" charset="0"/>
              </a:rPr>
              <a:t>No image learning</a:t>
            </a:r>
            <a:endParaRPr sz="1200" dirty="0">
              <a:latin typeface="Arial Black" panose="020B0A04020102020204" pitchFamily="34" charset="0"/>
            </a:endParaRPr>
          </a:p>
        </p:txBody>
      </p:sp>
      <p:sp>
        <p:nvSpPr>
          <p:cNvPr id="93" name="Google Shape;2744;p44">
            <a:extLst>
              <a:ext uri="{FF2B5EF4-FFF2-40B4-BE49-F238E27FC236}">
                <a16:creationId xmlns:a16="http://schemas.microsoft.com/office/drawing/2014/main" id="{F68CA61E-9FDC-22F2-21BD-26A449E4915F}"/>
              </a:ext>
            </a:extLst>
          </p:cNvPr>
          <p:cNvSpPr/>
          <p:nvPr/>
        </p:nvSpPr>
        <p:spPr>
          <a:xfrm>
            <a:off x="7427858" y="2124514"/>
            <a:ext cx="1778185" cy="3693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>
                <a:latin typeface="Arial Black" panose="020B0A04020102020204" pitchFamily="34" charset="0"/>
              </a:rPr>
              <a:t>Weak dataset</a:t>
            </a:r>
            <a:endParaRPr sz="1200" dirty="0">
              <a:latin typeface="Arial Black" panose="020B0A04020102020204" pitchFamily="34" charset="0"/>
            </a:endParaRPr>
          </a:p>
        </p:txBody>
      </p:sp>
      <p:sp>
        <p:nvSpPr>
          <p:cNvPr id="94" name="Google Shape;2746;p44">
            <a:extLst>
              <a:ext uri="{FF2B5EF4-FFF2-40B4-BE49-F238E27FC236}">
                <a16:creationId xmlns:a16="http://schemas.microsoft.com/office/drawing/2014/main" id="{4D539035-BA8C-F941-9366-76797D4745C7}"/>
              </a:ext>
            </a:extLst>
          </p:cNvPr>
          <p:cNvSpPr/>
          <p:nvPr/>
        </p:nvSpPr>
        <p:spPr>
          <a:xfrm>
            <a:off x="7427858" y="2698493"/>
            <a:ext cx="1778185" cy="3693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latin typeface="Arial Black" panose="020B0A04020102020204" pitchFamily="34" charset="0"/>
              </a:rPr>
              <a:t>No NOAA data</a:t>
            </a:r>
            <a:endParaRPr sz="1200" dirty="0">
              <a:latin typeface="Arial Black" panose="020B0A04020102020204" pitchFamily="34" charset="0"/>
            </a:endParaRPr>
          </a:p>
        </p:txBody>
      </p:sp>
      <p:sp>
        <p:nvSpPr>
          <p:cNvPr id="95" name="Google Shape;2748;p44">
            <a:extLst>
              <a:ext uri="{FF2B5EF4-FFF2-40B4-BE49-F238E27FC236}">
                <a16:creationId xmlns:a16="http://schemas.microsoft.com/office/drawing/2014/main" id="{EF8D10BE-D642-4E98-C0B0-DF5F02153621}"/>
              </a:ext>
            </a:extLst>
          </p:cNvPr>
          <p:cNvSpPr/>
          <p:nvPr/>
        </p:nvSpPr>
        <p:spPr>
          <a:xfrm>
            <a:off x="7427858" y="3287667"/>
            <a:ext cx="1778185" cy="3693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latin typeface="Arial Black" panose="020B0A04020102020204" pitchFamily="34" charset="0"/>
              </a:rPr>
              <a:t>Weak feature extraction</a:t>
            </a:r>
            <a:endParaRPr sz="1200" dirty="0">
              <a:latin typeface="Arial Black" panose="020B0A04020102020204" pitchFamily="34" charset="0"/>
            </a:endParaRPr>
          </a:p>
        </p:txBody>
      </p:sp>
      <p:sp>
        <p:nvSpPr>
          <p:cNvPr id="96" name="Google Shape;2750;p44">
            <a:extLst>
              <a:ext uri="{FF2B5EF4-FFF2-40B4-BE49-F238E27FC236}">
                <a16:creationId xmlns:a16="http://schemas.microsoft.com/office/drawing/2014/main" id="{6D43E9F2-6D41-1C27-34F8-CD432212B52E}"/>
              </a:ext>
            </a:extLst>
          </p:cNvPr>
          <p:cNvSpPr/>
          <p:nvPr/>
        </p:nvSpPr>
        <p:spPr>
          <a:xfrm>
            <a:off x="9317062" y="1619707"/>
            <a:ext cx="2114767" cy="3693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latin typeface="Arial Black" panose="020B0A04020102020204" pitchFamily="34" charset="0"/>
              </a:rPr>
              <a:t>CNN on magnetogram images</a:t>
            </a:r>
            <a:endParaRPr sz="1200" dirty="0">
              <a:latin typeface="Arial Black" panose="020B0A04020102020204" pitchFamily="34" charset="0"/>
            </a:endParaRPr>
          </a:p>
        </p:txBody>
      </p:sp>
      <p:sp>
        <p:nvSpPr>
          <p:cNvPr id="97" name="Google Shape;2752;p44">
            <a:extLst>
              <a:ext uri="{FF2B5EF4-FFF2-40B4-BE49-F238E27FC236}">
                <a16:creationId xmlns:a16="http://schemas.microsoft.com/office/drawing/2014/main" id="{6C7E77D8-7C41-AA1D-713E-4381FFDE1A1D}"/>
              </a:ext>
            </a:extLst>
          </p:cNvPr>
          <p:cNvSpPr/>
          <p:nvPr/>
        </p:nvSpPr>
        <p:spPr>
          <a:xfrm>
            <a:off x="9317062" y="2124514"/>
            <a:ext cx="2114767" cy="3693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latin typeface="Arial Black" panose="020B0A04020102020204" pitchFamily="34" charset="0"/>
              </a:rPr>
              <a:t>Optimized CNN</a:t>
            </a:r>
            <a:endParaRPr sz="1200" dirty="0">
              <a:latin typeface="Arial Black" panose="020B0A04020102020204" pitchFamily="34" charset="0"/>
            </a:endParaRPr>
          </a:p>
        </p:txBody>
      </p:sp>
      <p:sp>
        <p:nvSpPr>
          <p:cNvPr id="98" name="Google Shape;2754;p44">
            <a:extLst>
              <a:ext uri="{FF2B5EF4-FFF2-40B4-BE49-F238E27FC236}">
                <a16:creationId xmlns:a16="http://schemas.microsoft.com/office/drawing/2014/main" id="{E77AFA50-81F6-309F-897B-CDCAFD5C8E0B}"/>
              </a:ext>
            </a:extLst>
          </p:cNvPr>
          <p:cNvSpPr/>
          <p:nvPr/>
        </p:nvSpPr>
        <p:spPr>
          <a:xfrm>
            <a:off x="9317062" y="2698493"/>
            <a:ext cx="2114767" cy="3693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latin typeface="Arial Black" panose="020B0A04020102020204" pitchFamily="34" charset="0"/>
              </a:rPr>
              <a:t>Data fusion (JSOC + NOAA)</a:t>
            </a:r>
            <a:endParaRPr sz="1200" dirty="0">
              <a:latin typeface="Arial Black" panose="020B0A04020102020204" pitchFamily="34" charset="0"/>
            </a:endParaRPr>
          </a:p>
        </p:txBody>
      </p:sp>
      <p:sp>
        <p:nvSpPr>
          <p:cNvPr id="99" name="Google Shape;2756;p44">
            <a:extLst>
              <a:ext uri="{FF2B5EF4-FFF2-40B4-BE49-F238E27FC236}">
                <a16:creationId xmlns:a16="http://schemas.microsoft.com/office/drawing/2014/main" id="{7336230D-0828-ED0C-8F2D-BF804E33748F}"/>
              </a:ext>
            </a:extLst>
          </p:cNvPr>
          <p:cNvSpPr/>
          <p:nvPr/>
        </p:nvSpPr>
        <p:spPr>
          <a:xfrm>
            <a:off x="9317062" y="3287667"/>
            <a:ext cx="2114767" cy="36933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latin typeface="Arial Black" panose="020B0A04020102020204" pitchFamily="34" charset="0"/>
              </a:rPr>
              <a:t>Deep spatial feature extraction</a:t>
            </a:r>
            <a:endParaRPr sz="1200" dirty="0">
              <a:latin typeface="Arial Black" panose="020B0A04020102020204" pitchFamily="34" charset="0"/>
            </a:endParaRPr>
          </a:p>
        </p:txBody>
      </p:sp>
      <p:sp>
        <p:nvSpPr>
          <p:cNvPr id="84" name="Google Shape;2759;p44">
            <a:extLst>
              <a:ext uri="{FF2B5EF4-FFF2-40B4-BE49-F238E27FC236}">
                <a16:creationId xmlns:a16="http://schemas.microsoft.com/office/drawing/2014/main" id="{ACF28EEA-3DDD-A8D4-C6A0-C1B37DCDC954}"/>
              </a:ext>
            </a:extLst>
          </p:cNvPr>
          <p:cNvSpPr/>
          <p:nvPr/>
        </p:nvSpPr>
        <p:spPr>
          <a:xfrm>
            <a:off x="3455016" y="1604194"/>
            <a:ext cx="1778185" cy="36933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bg1"/>
                </a:solidFill>
                <a:latin typeface="Arial Black" panose="020B0A04020102020204" pitchFamily="34" charset="0"/>
              </a:rPr>
              <a:t>Bobra (2015)</a:t>
            </a:r>
            <a:endParaRPr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5" name="Google Shape;2761;p44">
            <a:extLst>
              <a:ext uri="{FF2B5EF4-FFF2-40B4-BE49-F238E27FC236}">
                <a16:creationId xmlns:a16="http://schemas.microsoft.com/office/drawing/2014/main" id="{F4CDF423-0ACF-AEEE-CE73-A9D9093DFDC0}"/>
              </a:ext>
            </a:extLst>
          </p:cNvPr>
          <p:cNvSpPr/>
          <p:nvPr/>
        </p:nvSpPr>
        <p:spPr>
          <a:xfrm>
            <a:off x="3455016" y="2109001"/>
            <a:ext cx="1778185" cy="36933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 err="1">
                <a:solidFill>
                  <a:schemeClr val="bg1"/>
                </a:solidFill>
                <a:latin typeface="Arial Black" panose="020B0A04020102020204" pitchFamily="34" charset="0"/>
              </a:rPr>
              <a:t>Nishizuka</a:t>
            </a:r>
            <a:r>
              <a:rPr lang="en-IN" sz="1200" dirty="0">
                <a:solidFill>
                  <a:schemeClr val="bg1"/>
                </a:solidFill>
                <a:latin typeface="Arial Black" panose="020B0A04020102020204" pitchFamily="34" charset="0"/>
              </a:rPr>
              <a:t> (2018)</a:t>
            </a:r>
            <a:endParaRPr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6" name="Google Shape;2763;p44">
            <a:extLst>
              <a:ext uri="{FF2B5EF4-FFF2-40B4-BE49-F238E27FC236}">
                <a16:creationId xmlns:a16="http://schemas.microsoft.com/office/drawing/2014/main" id="{E304F5B2-35F5-6CB0-30CB-1BE0FA45D20D}"/>
              </a:ext>
            </a:extLst>
          </p:cNvPr>
          <p:cNvSpPr/>
          <p:nvPr/>
        </p:nvSpPr>
        <p:spPr>
          <a:xfrm>
            <a:off x="3455016" y="2682980"/>
            <a:ext cx="1778185" cy="36933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bg1"/>
                </a:solidFill>
                <a:latin typeface="Arial Black" panose="020B0A04020102020204" pitchFamily="34" charset="0"/>
              </a:rPr>
              <a:t>Huang (2018)</a:t>
            </a:r>
            <a:endParaRPr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7" name="Google Shape;2765;p44">
            <a:extLst>
              <a:ext uri="{FF2B5EF4-FFF2-40B4-BE49-F238E27FC236}">
                <a16:creationId xmlns:a16="http://schemas.microsoft.com/office/drawing/2014/main" id="{DB1F7D9B-C140-C5A1-1476-EBB8A2ECE8F7}"/>
              </a:ext>
            </a:extLst>
          </p:cNvPr>
          <p:cNvSpPr/>
          <p:nvPr/>
        </p:nvSpPr>
        <p:spPr>
          <a:xfrm>
            <a:off x="3455016" y="3272155"/>
            <a:ext cx="1778185" cy="36933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bg1"/>
                </a:solidFill>
                <a:latin typeface="Arial Black" panose="020B0A04020102020204" pitchFamily="34" charset="0"/>
              </a:rPr>
              <a:t>Ahmed (2013)</a:t>
            </a:r>
            <a:endParaRPr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1" name="Google Shape;2768;p44">
            <a:extLst>
              <a:ext uri="{FF2B5EF4-FFF2-40B4-BE49-F238E27FC236}">
                <a16:creationId xmlns:a16="http://schemas.microsoft.com/office/drawing/2014/main" id="{3B3766FA-BAC1-9EEF-2BF9-D9BF469CD76C}"/>
              </a:ext>
            </a:extLst>
          </p:cNvPr>
          <p:cNvSpPr/>
          <p:nvPr/>
        </p:nvSpPr>
        <p:spPr>
          <a:xfrm>
            <a:off x="5377023" y="974063"/>
            <a:ext cx="1906990" cy="369331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METHOD</a:t>
            </a:r>
            <a:endParaRPr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2" name="Google Shape;2769;p44">
            <a:extLst>
              <a:ext uri="{FF2B5EF4-FFF2-40B4-BE49-F238E27FC236}">
                <a16:creationId xmlns:a16="http://schemas.microsoft.com/office/drawing/2014/main" id="{5F3B29F6-68B9-63FF-7B08-C6AF0DD381B4}"/>
              </a:ext>
            </a:extLst>
          </p:cNvPr>
          <p:cNvSpPr/>
          <p:nvPr/>
        </p:nvSpPr>
        <p:spPr>
          <a:xfrm>
            <a:off x="7411445" y="989851"/>
            <a:ext cx="1778185" cy="369331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LIMITATION</a:t>
            </a:r>
          </a:p>
        </p:txBody>
      </p:sp>
      <p:sp>
        <p:nvSpPr>
          <p:cNvPr id="83" name="Google Shape;2770;p44">
            <a:extLst>
              <a:ext uri="{FF2B5EF4-FFF2-40B4-BE49-F238E27FC236}">
                <a16:creationId xmlns:a16="http://schemas.microsoft.com/office/drawing/2014/main" id="{A70BA4DE-DFA8-D054-97DD-5BDFCADC5C48}"/>
              </a:ext>
            </a:extLst>
          </p:cNvPr>
          <p:cNvSpPr/>
          <p:nvPr/>
        </p:nvSpPr>
        <p:spPr>
          <a:xfrm>
            <a:off x="9317062" y="989851"/>
            <a:ext cx="2190413" cy="369331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OUR IMPLEMENTATION</a:t>
            </a:r>
            <a:endParaRPr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" name="Google Shape;2805;p44">
            <a:extLst>
              <a:ext uri="{FF2B5EF4-FFF2-40B4-BE49-F238E27FC236}">
                <a16:creationId xmlns:a16="http://schemas.microsoft.com/office/drawing/2014/main" id="{CF0E6459-95B9-2AA2-8F1C-00FCE2EEED56}"/>
              </a:ext>
            </a:extLst>
          </p:cNvPr>
          <p:cNvSpPr/>
          <p:nvPr/>
        </p:nvSpPr>
        <p:spPr>
          <a:xfrm>
            <a:off x="7365726" y="1440704"/>
            <a:ext cx="45719" cy="45719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435D74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" name="Google Shape;809;p32">
            <a:extLst>
              <a:ext uri="{FF2B5EF4-FFF2-40B4-BE49-F238E27FC236}">
                <a16:creationId xmlns:a16="http://schemas.microsoft.com/office/drawing/2014/main" id="{CE4D7100-1DBC-DA63-584D-CDD13B4E7B10}"/>
              </a:ext>
            </a:extLst>
          </p:cNvPr>
          <p:cNvGrpSpPr/>
          <p:nvPr/>
        </p:nvGrpSpPr>
        <p:grpSpPr>
          <a:xfrm>
            <a:off x="471878" y="4138361"/>
            <a:ext cx="10959950" cy="1500439"/>
            <a:chOff x="1329165" y="1040775"/>
            <a:chExt cx="7357689" cy="848929"/>
          </a:xfrm>
        </p:grpSpPr>
        <p:sp>
          <p:nvSpPr>
            <p:cNvPr id="3" name="Google Shape;810;p32">
              <a:extLst>
                <a:ext uri="{FF2B5EF4-FFF2-40B4-BE49-F238E27FC236}">
                  <a16:creationId xmlns:a16="http://schemas.microsoft.com/office/drawing/2014/main" id="{48DE7D6D-027C-619A-59C3-1415207B482D}"/>
                </a:ext>
              </a:extLst>
            </p:cNvPr>
            <p:cNvSpPr/>
            <p:nvPr/>
          </p:nvSpPr>
          <p:spPr>
            <a:xfrm>
              <a:off x="1765701" y="1088123"/>
              <a:ext cx="6920940" cy="801581"/>
            </a:xfrm>
            <a:custGeom>
              <a:avLst/>
              <a:gdLst/>
              <a:ahLst/>
              <a:cxnLst/>
              <a:rect l="l" t="t" r="r" b="b"/>
              <a:pathLst>
                <a:path w="185250" h="26457" extrusionOk="0">
                  <a:moveTo>
                    <a:pt x="180499" y="1"/>
                  </a:moveTo>
                  <a:lnTo>
                    <a:pt x="91000" y="1"/>
                  </a:lnTo>
                  <a:lnTo>
                    <a:pt x="88428" y="1"/>
                  </a:lnTo>
                  <a:lnTo>
                    <a:pt x="3311" y="1"/>
                  </a:lnTo>
                  <a:cubicBezTo>
                    <a:pt x="1477" y="1"/>
                    <a:pt x="1" y="1477"/>
                    <a:pt x="1" y="3311"/>
                  </a:cubicBezTo>
                  <a:lnTo>
                    <a:pt x="1" y="23147"/>
                  </a:lnTo>
                  <a:cubicBezTo>
                    <a:pt x="1" y="24980"/>
                    <a:pt x="1477" y="26456"/>
                    <a:pt x="3311" y="26456"/>
                  </a:cubicBezTo>
                  <a:lnTo>
                    <a:pt x="88428" y="26456"/>
                  </a:lnTo>
                  <a:lnTo>
                    <a:pt x="91000" y="26456"/>
                  </a:lnTo>
                  <a:lnTo>
                    <a:pt x="180499" y="26456"/>
                  </a:lnTo>
                  <a:cubicBezTo>
                    <a:pt x="183131" y="26456"/>
                    <a:pt x="185250" y="24337"/>
                    <a:pt x="185250" y="21706"/>
                  </a:cubicBezTo>
                  <a:lnTo>
                    <a:pt x="185250" y="4740"/>
                  </a:lnTo>
                  <a:cubicBezTo>
                    <a:pt x="185250" y="2120"/>
                    <a:pt x="183119" y="1"/>
                    <a:pt x="180499" y="1"/>
                  </a:cubicBez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11;p32">
              <a:extLst>
                <a:ext uri="{FF2B5EF4-FFF2-40B4-BE49-F238E27FC236}">
                  <a16:creationId xmlns:a16="http://schemas.microsoft.com/office/drawing/2014/main" id="{1185745B-FCF6-BB7B-A40F-D11B97B6691C}"/>
                </a:ext>
              </a:extLst>
            </p:cNvPr>
            <p:cNvSpPr/>
            <p:nvPr/>
          </p:nvSpPr>
          <p:spPr>
            <a:xfrm>
              <a:off x="4481875" y="1040775"/>
              <a:ext cx="4204979" cy="801914"/>
            </a:xfrm>
            <a:custGeom>
              <a:avLst/>
              <a:gdLst/>
              <a:ahLst/>
              <a:cxnLst/>
              <a:rect l="l" t="t" r="r" b="b"/>
              <a:pathLst>
                <a:path w="96822" h="26468" extrusionOk="0">
                  <a:moveTo>
                    <a:pt x="0" y="0"/>
                  </a:moveTo>
                  <a:lnTo>
                    <a:pt x="0" y="26468"/>
                  </a:lnTo>
                  <a:lnTo>
                    <a:pt x="92071" y="26468"/>
                  </a:lnTo>
                  <a:cubicBezTo>
                    <a:pt x="94691" y="26468"/>
                    <a:pt x="96822" y="24337"/>
                    <a:pt x="96822" y="21717"/>
                  </a:cubicBezTo>
                  <a:lnTo>
                    <a:pt x="96822" y="4751"/>
                  </a:lnTo>
                  <a:cubicBezTo>
                    <a:pt x="96822" y="2120"/>
                    <a:pt x="94691" y="0"/>
                    <a:pt x="92071" y="0"/>
                  </a:cubicBezTo>
                  <a:close/>
                </a:path>
              </a:pathLst>
            </a:cu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457200" tIns="91425" rIns="91425" bIns="91425" anchor="ctr" anchorCtr="0">
              <a:noAutofit/>
            </a:bodyPr>
            <a:lstStyle/>
            <a:p>
              <a:r>
                <a:rPr lang="en-US" sz="1600" dirty="0">
                  <a:latin typeface="Arial Black" panose="020B0A04020102020204" pitchFamily="34" charset="0"/>
                </a:rPr>
                <a:t>Lack of integrated deep learning approach combining magnetogram images and solar activity data for accurate real-time prediction.</a:t>
              </a:r>
            </a:p>
          </p:txBody>
        </p:sp>
        <p:sp>
          <p:nvSpPr>
            <p:cNvPr id="5" name="Google Shape;812;p32">
              <a:extLst>
                <a:ext uri="{FF2B5EF4-FFF2-40B4-BE49-F238E27FC236}">
                  <a16:creationId xmlns:a16="http://schemas.microsoft.com/office/drawing/2014/main" id="{15E97052-D7CD-4B30-35BE-AFAE48DDB598}"/>
                </a:ext>
              </a:extLst>
            </p:cNvPr>
            <p:cNvSpPr/>
            <p:nvPr/>
          </p:nvSpPr>
          <p:spPr>
            <a:xfrm>
              <a:off x="1329165" y="1065054"/>
              <a:ext cx="2977789" cy="801945"/>
            </a:xfrm>
            <a:custGeom>
              <a:avLst/>
              <a:gdLst/>
              <a:ahLst/>
              <a:cxnLst/>
              <a:rect l="l" t="t" r="r" b="b"/>
              <a:pathLst>
                <a:path w="102014" h="26469" extrusionOk="0">
                  <a:moveTo>
                    <a:pt x="3311" y="1"/>
                  </a:moveTo>
                  <a:cubicBezTo>
                    <a:pt x="1477" y="1"/>
                    <a:pt x="1" y="1489"/>
                    <a:pt x="1" y="3311"/>
                  </a:cubicBezTo>
                  <a:lnTo>
                    <a:pt x="1" y="23159"/>
                  </a:lnTo>
                  <a:cubicBezTo>
                    <a:pt x="1" y="24980"/>
                    <a:pt x="1477" y="26469"/>
                    <a:pt x="3311" y="26469"/>
                  </a:cubicBezTo>
                  <a:lnTo>
                    <a:pt x="91000" y="26469"/>
                  </a:lnTo>
                  <a:cubicBezTo>
                    <a:pt x="92036" y="26469"/>
                    <a:pt x="93012" y="25980"/>
                    <a:pt x="93643" y="25147"/>
                  </a:cubicBezTo>
                  <a:lnTo>
                    <a:pt x="101132" y="15229"/>
                  </a:lnTo>
                  <a:cubicBezTo>
                    <a:pt x="102013" y="14050"/>
                    <a:pt x="102013" y="12419"/>
                    <a:pt x="101132" y="11240"/>
                  </a:cubicBezTo>
                  <a:lnTo>
                    <a:pt x="93643" y="1323"/>
                  </a:lnTo>
                  <a:cubicBezTo>
                    <a:pt x="93012" y="489"/>
                    <a:pt x="92036" y="1"/>
                    <a:pt x="91000" y="1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RESEARCH GAP</a:t>
              </a:r>
            </a:p>
          </p:txBody>
        </p:sp>
      </p:grpSp>
      <p:sp>
        <p:nvSpPr>
          <p:cNvPr id="14" name="Google Shape;812;p32">
            <a:extLst>
              <a:ext uri="{FF2B5EF4-FFF2-40B4-BE49-F238E27FC236}">
                <a16:creationId xmlns:a16="http://schemas.microsoft.com/office/drawing/2014/main" id="{D9BE4FCF-2060-38C1-4FC5-ED213FE052FD}"/>
              </a:ext>
            </a:extLst>
          </p:cNvPr>
          <p:cNvSpPr/>
          <p:nvPr/>
        </p:nvSpPr>
        <p:spPr>
          <a:xfrm>
            <a:off x="335896" y="870453"/>
            <a:ext cx="2776168" cy="2734680"/>
          </a:xfrm>
          <a:custGeom>
            <a:avLst/>
            <a:gdLst/>
            <a:ahLst/>
            <a:cxnLst/>
            <a:rect l="l" t="t" r="r" b="b"/>
            <a:pathLst>
              <a:path w="102014" h="26469" extrusionOk="0">
                <a:moveTo>
                  <a:pt x="3311" y="1"/>
                </a:moveTo>
                <a:cubicBezTo>
                  <a:pt x="1477" y="1"/>
                  <a:pt x="1" y="1489"/>
                  <a:pt x="1" y="3311"/>
                </a:cubicBezTo>
                <a:lnTo>
                  <a:pt x="1" y="23159"/>
                </a:lnTo>
                <a:cubicBezTo>
                  <a:pt x="1" y="24980"/>
                  <a:pt x="1477" y="26469"/>
                  <a:pt x="3311" y="26469"/>
                </a:cubicBezTo>
                <a:lnTo>
                  <a:pt x="91000" y="26469"/>
                </a:lnTo>
                <a:cubicBezTo>
                  <a:pt x="92036" y="26469"/>
                  <a:pt x="93012" y="25980"/>
                  <a:pt x="93643" y="25147"/>
                </a:cubicBezTo>
                <a:lnTo>
                  <a:pt x="101132" y="15229"/>
                </a:lnTo>
                <a:cubicBezTo>
                  <a:pt x="102013" y="14050"/>
                  <a:pt x="102013" y="12419"/>
                  <a:pt x="101132" y="11240"/>
                </a:cubicBezTo>
                <a:lnTo>
                  <a:pt x="93643" y="1323"/>
                </a:lnTo>
                <a:cubicBezTo>
                  <a:pt x="93012" y="489"/>
                  <a:pt x="92036" y="1"/>
                  <a:pt x="91000" y="1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dirty="0">
                <a:latin typeface="Arial Black" panose="020B0A04020102020204" pitchFamily="34" charset="0"/>
              </a:rPr>
              <a:t>Existing Methods </a:t>
            </a:r>
          </a:p>
          <a:p>
            <a:pPr lvl="0" algn="ctr">
              <a:lnSpc>
                <a:spcPct val="150000"/>
              </a:lnSpc>
            </a:pPr>
            <a:r>
              <a:rPr lang="en-US" dirty="0">
                <a:latin typeface="Arial Black" panose="020B0A04020102020204" pitchFamily="34" charset="0"/>
              </a:rPr>
              <a:t>Vs</a:t>
            </a:r>
          </a:p>
          <a:p>
            <a:pPr lvl="0" algn="ctr">
              <a:lnSpc>
                <a:spcPct val="150000"/>
              </a:lnSpc>
            </a:pPr>
            <a:r>
              <a:rPr lang="en-US" dirty="0">
                <a:latin typeface="Arial Black" panose="020B0A04020102020204" pitchFamily="34" charset="0"/>
              </a:rPr>
              <a:t> Proposed Approach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86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 txBox="1"/>
          <p:nvPr/>
        </p:nvSpPr>
        <p:spPr>
          <a:xfrm>
            <a:off x="0" y="15000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0000"/>
                </a:solidFill>
                <a:latin typeface="Algerian" panose="04020705040A02060702" pitchFamily="82" charset="0"/>
              </a:rPr>
              <a:t>PROBLEM STATEMENT &amp; OBJECTIVES</a:t>
            </a:r>
          </a:p>
        </p:txBody>
      </p:sp>
      <p:sp>
        <p:nvSpPr>
          <p:cNvPr id="9" name="矩形: 圆角 13">
            <a:extLst>
              <a:ext uri="{FF2B5EF4-FFF2-40B4-BE49-F238E27FC236}">
                <a16:creationId xmlns:a16="http://schemas.microsoft.com/office/drawing/2014/main" id="{B1E11441-C7D2-7337-BCCA-B932C15EC3AC}"/>
              </a:ext>
            </a:extLst>
          </p:cNvPr>
          <p:cNvSpPr/>
          <p:nvPr/>
        </p:nvSpPr>
        <p:spPr>
          <a:xfrm>
            <a:off x="539798" y="1340030"/>
            <a:ext cx="11112403" cy="1525089"/>
          </a:xfrm>
          <a:prstGeom prst="roundRect">
            <a:avLst>
              <a:gd name="adj" fmla="val 8658"/>
            </a:avLst>
          </a:prstGeom>
          <a:noFill/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		Developing an automated deep learning system for accurate solar flare 		prediction using magnetogram images and solar activity data.</a:t>
            </a:r>
            <a:endParaRPr lang="zh-CN" altLang="en-US" dirty="0">
              <a:solidFill>
                <a:schemeClr val="tx1"/>
              </a:solidFill>
              <a:latin typeface="Arial Black" panose="020B0A04020102020204" pitchFamily="34" charset="0"/>
              <a:cs typeface="Open Sans" panose="020B0606030504020204" charset="0"/>
            </a:endParaRP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2947DEDF-D600-99F3-B205-D87F3A281C83}"/>
              </a:ext>
            </a:extLst>
          </p:cNvPr>
          <p:cNvSpPr/>
          <p:nvPr/>
        </p:nvSpPr>
        <p:spPr bwMode="auto">
          <a:xfrm>
            <a:off x="539798" y="1323029"/>
            <a:ext cx="1831244" cy="1558352"/>
          </a:xfrm>
          <a:custGeom>
            <a:avLst/>
            <a:gdLst>
              <a:gd name="T0" fmla="*/ 481 w 623"/>
              <a:gd name="T1" fmla="*/ 521 h 521"/>
              <a:gd name="T2" fmla="*/ 45 w 623"/>
              <a:gd name="T3" fmla="*/ 521 h 521"/>
              <a:gd name="T4" fmla="*/ 0 w 623"/>
              <a:gd name="T5" fmla="*/ 476 h 521"/>
              <a:gd name="T6" fmla="*/ 0 w 623"/>
              <a:gd name="T7" fmla="*/ 45 h 521"/>
              <a:gd name="T8" fmla="*/ 45 w 623"/>
              <a:gd name="T9" fmla="*/ 0 h 521"/>
              <a:gd name="T10" fmla="*/ 481 w 623"/>
              <a:gd name="T11" fmla="*/ 0 h 521"/>
              <a:gd name="T12" fmla="*/ 623 w 623"/>
              <a:gd name="T13" fmla="*/ 260 h 521"/>
              <a:gd name="T14" fmla="*/ 481 w 623"/>
              <a:gd name="T15" fmla="*/ 521 h 5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23" h="521">
                <a:moveTo>
                  <a:pt x="481" y="521"/>
                </a:moveTo>
                <a:cubicBezTo>
                  <a:pt x="45" y="521"/>
                  <a:pt x="45" y="521"/>
                  <a:pt x="45" y="521"/>
                </a:cubicBezTo>
                <a:cubicBezTo>
                  <a:pt x="20" y="521"/>
                  <a:pt x="0" y="501"/>
                  <a:pt x="0" y="476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20"/>
                  <a:pt x="20" y="0"/>
                  <a:pt x="45" y="0"/>
                </a:cubicBezTo>
                <a:cubicBezTo>
                  <a:pt x="481" y="0"/>
                  <a:pt x="481" y="0"/>
                  <a:pt x="481" y="0"/>
                </a:cubicBezTo>
                <a:cubicBezTo>
                  <a:pt x="623" y="260"/>
                  <a:pt x="623" y="260"/>
                  <a:pt x="623" y="260"/>
                </a:cubicBezTo>
                <a:lnTo>
                  <a:pt x="481" y="52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Arial Black" panose="020B0A04020102020204" pitchFamily="34" charset="0"/>
                <a:cs typeface="Open Sans" panose="020B0606030504020204" charset="0"/>
              </a:rPr>
              <a:t>Problem Statement</a:t>
            </a:r>
            <a:endParaRPr lang="zh-CN" altLang="en-US" dirty="0">
              <a:latin typeface="Arial Black" panose="020B0A04020102020204" pitchFamily="34" charset="0"/>
              <a:cs typeface="Open Sans" panose="020B0606030504020204" charset="0"/>
            </a:endParaRPr>
          </a:p>
        </p:txBody>
      </p:sp>
      <p:grpSp>
        <p:nvGrpSpPr>
          <p:cNvPr id="14" name="组合 37">
            <a:extLst>
              <a:ext uri="{FF2B5EF4-FFF2-40B4-BE49-F238E27FC236}">
                <a16:creationId xmlns:a16="http://schemas.microsoft.com/office/drawing/2014/main" id="{C5A53F03-34CB-C2A7-5FCA-05F4AAEA614F}"/>
              </a:ext>
            </a:extLst>
          </p:cNvPr>
          <p:cNvGrpSpPr/>
          <p:nvPr/>
        </p:nvGrpSpPr>
        <p:grpSpPr>
          <a:xfrm>
            <a:off x="550546" y="3165082"/>
            <a:ext cx="11112404" cy="3414137"/>
            <a:chOff x="382066" y="1355479"/>
            <a:chExt cx="11112404" cy="3414137"/>
          </a:xfrm>
        </p:grpSpPr>
        <p:sp>
          <p:nvSpPr>
            <p:cNvPr id="15" name="矩形: 圆角 40">
              <a:extLst>
                <a:ext uri="{FF2B5EF4-FFF2-40B4-BE49-F238E27FC236}">
                  <a16:creationId xmlns:a16="http://schemas.microsoft.com/office/drawing/2014/main" id="{8C12F114-39D3-68F1-1464-A9B500534E60}"/>
                </a:ext>
              </a:extLst>
            </p:cNvPr>
            <p:cNvSpPr/>
            <p:nvPr/>
          </p:nvSpPr>
          <p:spPr>
            <a:xfrm>
              <a:off x="382067" y="1355479"/>
              <a:ext cx="11112403" cy="3414137"/>
            </a:xfrm>
            <a:prstGeom prst="roundRect">
              <a:avLst>
                <a:gd name="adj" fmla="val 8658"/>
              </a:avLst>
            </a:prstGeom>
            <a:noFill/>
            <a:ln w="19050">
              <a:solidFill>
                <a:srgbClr val="8774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114550" lvl="4" indent="-285750" algn="ctr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Develop a </a:t>
              </a:r>
              <a:r>
                <a:rPr lang="en-US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CNN-based model</a:t>
              </a:r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 to classify Flare / No Flare</a:t>
              </a:r>
            </a:p>
            <a:p>
              <a:pPr marL="2114550" lvl="4" indent="-285750" algn="ctr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/>
                  </a:solidFill>
                  <a:latin typeface="Arial Black" panose="020B0A04020102020204" pitchFamily="34" charset="0"/>
                  <a:cs typeface="Open Sans" panose="020B0606030504020204" charset="0"/>
                </a:rPr>
                <a:t>I</a:t>
              </a:r>
              <a:r>
                <a:rPr lang="pt-BR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ntegrate </a:t>
              </a:r>
              <a:r>
                <a:rPr lang="pt-BR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JSOC magnetogram images + NOAA data</a:t>
              </a:r>
            </a:p>
            <a:p>
              <a:pPr marL="2114550" lvl="4" indent="-285750" algn="ctr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pt-BR" altLang="zh-CN" dirty="0">
                  <a:solidFill>
                    <a:schemeClr val="tx1"/>
                  </a:solidFill>
                  <a:latin typeface="Arial Black" panose="020B0A04020102020204" pitchFamily="34" charset="0"/>
                  <a:cs typeface="Open Sans" panose="020B0606030504020204" charset="0"/>
                </a:rPr>
                <a:t>A</a:t>
              </a:r>
              <a:r>
                <a:rPr lang="en-US" dirty="0" err="1">
                  <a:solidFill>
                    <a:schemeClr val="tx1"/>
                  </a:solidFill>
                  <a:latin typeface="Arial Black" panose="020B0A04020102020204" pitchFamily="34" charset="0"/>
                </a:rPr>
                <a:t>pply</a:t>
              </a:r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 preprocessing (</a:t>
              </a:r>
              <a:r>
                <a:rPr lang="en-US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normalization, resizing, noise reduction</a:t>
              </a:r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)</a:t>
              </a:r>
            </a:p>
            <a:p>
              <a:pPr marL="2114550" lvl="4" indent="-285750" algn="ctr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/>
                  </a:solidFill>
                  <a:latin typeface="Arial Black" panose="020B0A04020102020204" pitchFamily="34" charset="0"/>
                  <a:cs typeface="Open Sans" panose="020B0606030504020204" charset="0"/>
                </a:rPr>
                <a:t>C</a:t>
              </a:r>
              <a:r>
                <a:rPr lang="sv-SE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ompare models (</a:t>
              </a:r>
              <a:r>
                <a:rPr lang="sv-SE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CNN, CNN+LSTM, ViT</a:t>
              </a:r>
              <a:r>
                <a:rPr lang="sv-SE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)</a:t>
              </a:r>
            </a:p>
            <a:p>
              <a:pPr marL="2114550" lvl="4" indent="-285750" algn="ctr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sv-SE" altLang="zh-CN" dirty="0">
                  <a:solidFill>
                    <a:schemeClr val="tx1"/>
                  </a:solidFill>
                  <a:latin typeface="Arial Black" panose="020B0A04020102020204" pitchFamily="34" charset="0"/>
                  <a:cs typeface="Open Sans" panose="020B0606030504020204" charset="0"/>
                </a:rPr>
                <a:t>D</a:t>
              </a:r>
              <a:r>
                <a:rPr lang="en-US" dirty="0" err="1">
                  <a:solidFill>
                    <a:schemeClr val="tx1"/>
                  </a:solidFill>
                  <a:latin typeface="Arial Black" panose="020B0A04020102020204" pitchFamily="34" charset="0"/>
                </a:rPr>
                <a:t>eploy</a:t>
              </a:r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 system using </a:t>
              </a:r>
              <a:r>
                <a:rPr lang="en-US" b="1" dirty="0" err="1">
                  <a:solidFill>
                    <a:schemeClr val="tx1"/>
                  </a:solidFill>
                  <a:latin typeface="Arial Black" panose="020B0A04020102020204" pitchFamily="34" charset="0"/>
                </a:rPr>
                <a:t>Streamlit</a:t>
              </a:r>
              <a:r>
                <a:rPr lang="en-US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 (real-time prediction)</a:t>
              </a:r>
            </a:p>
            <a:p>
              <a:pPr marL="2114550" lvl="4" indent="-285750" algn="ctr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solidFill>
                    <a:schemeClr val="tx1"/>
                  </a:solidFill>
                  <a:latin typeface="Arial Black" panose="020B0A04020102020204" pitchFamily="34" charset="0"/>
                  <a:cs typeface="Open Sans" panose="020B0606030504020204" charset="0"/>
                </a:rPr>
                <a:t>E</a:t>
              </a:r>
              <a:r>
                <a:rPr lang="en-US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valuate using </a:t>
              </a:r>
              <a:r>
                <a:rPr lang="en-US" b="1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Accuracy, Precision, Recall, F1-score</a:t>
              </a:r>
              <a:endParaRPr lang="zh-CN" altLang="en-US" dirty="0">
                <a:solidFill>
                  <a:schemeClr val="tx1"/>
                </a:solidFill>
                <a:latin typeface="Arial Black" panose="020B0A04020102020204" pitchFamily="34" charset="0"/>
                <a:cs typeface="Open Sans" panose="020B0606030504020204" charset="0"/>
              </a:endParaRPr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BCE252E-87A0-2BC5-4E2A-2035387D0D5C}"/>
                </a:ext>
              </a:extLst>
            </p:cNvPr>
            <p:cNvSpPr/>
            <p:nvPr/>
          </p:nvSpPr>
          <p:spPr bwMode="auto">
            <a:xfrm>
              <a:off x="382066" y="1619397"/>
              <a:ext cx="2136898" cy="2871439"/>
            </a:xfrm>
            <a:custGeom>
              <a:avLst/>
              <a:gdLst>
                <a:gd name="T0" fmla="*/ 481 w 623"/>
                <a:gd name="T1" fmla="*/ 521 h 521"/>
                <a:gd name="T2" fmla="*/ 45 w 623"/>
                <a:gd name="T3" fmla="*/ 521 h 521"/>
                <a:gd name="T4" fmla="*/ 0 w 623"/>
                <a:gd name="T5" fmla="*/ 476 h 521"/>
                <a:gd name="T6" fmla="*/ 0 w 623"/>
                <a:gd name="T7" fmla="*/ 45 h 521"/>
                <a:gd name="T8" fmla="*/ 45 w 623"/>
                <a:gd name="T9" fmla="*/ 0 h 521"/>
                <a:gd name="T10" fmla="*/ 481 w 623"/>
                <a:gd name="T11" fmla="*/ 0 h 521"/>
                <a:gd name="T12" fmla="*/ 623 w 623"/>
                <a:gd name="T13" fmla="*/ 260 h 521"/>
                <a:gd name="T14" fmla="*/ 481 w 623"/>
                <a:gd name="T15" fmla="*/ 52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3" h="521">
                  <a:moveTo>
                    <a:pt x="481" y="521"/>
                  </a:moveTo>
                  <a:cubicBezTo>
                    <a:pt x="45" y="521"/>
                    <a:pt x="45" y="521"/>
                    <a:pt x="45" y="521"/>
                  </a:cubicBezTo>
                  <a:cubicBezTo>
                    <a:pt x="20" y="521"/>
                    <a:pt x="0" y="501"/>
                    <a:pt x="0" y="476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481" y="0"/>
                    <a:pt x="481" y="0"/>
                    <a:pt x="481" y="0"/>
                  </a:cubicBezTo>
                  <a:cubicBezTo>
                    <a:pt x="623" y="260"/>
                    <a:pt x="623" y="260"/>
                    <a:pt x="623" y="260"/>
                  </a:cubicBezTo>
                  <a:lnTo>
                    <a:pt x="481" y="521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9050" cap="flat">
              <a:solidFill>
                <a:srgbClr val="87747E"/>
              </a:solidFill>
              <a:prstDash val="solid"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endPara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endParaRPr lang="en-US" altLang="zh-CN" sz="2400" dirty="0">
                <a:solidFill>
                  <a:schemeClr val="bg1"/>
                </a:solidFill>
                <a:latin typeface="Arial Black" panose="020B0A04020102020204" pitchFamily="34" charset="0"/>
                <a:ea typeface="Open Sans" panose="020B0606030504020204" charset="0"/>
                <a:cs typeface="Open Sans" panose="020B0606030504020204" charset="0"/>
              </a:endParaRPr>
            </a:p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Arial Black" panose="020B0A04020102020204" pitchFamily="34" charset="0"/>
                  <a:ea typeface="Open Sans" panose="020B0606030504020204" charset="0"/>
                  <a:cs typeface="Open Sans" panose="020B0606030504020204" charset="0"/>
                </a:rPr>
                <a:t>Objectives</a:t>
              </a:r>
              <a:endParaRPr lang="zh-CN" altLang="en-US" sz="2400" dirty="0">
                <a:solidFill>
                  <a:schemeClr val="bg1"/>
                </a:solidFill>
                <a:latin typeface="Arial Black" panose="020B0A04020102020204" pitchFamily="34" charset="0"/>
                <a:ea typeface="Open Sans" panose="020B0606030504020204" charset="0"/>
                <a:cs typeface="Open Sans" panose="020B060603050402020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7200" y="43003"/>
            <a:ext cx="11277600" cy="57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400" b="1" dirty="0">
                <a:solidFill>
                  <a:srgbClr val="000000"/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56" name="矩形: 圆角 25">
            <a:extLst>
              <a:ext uri="{FF2B5EF4-FFF2-40B4-BE49-F238E27FC236}">
                <a16:creationId xmlns:a16="http://schemas.microsoft.com/office/drawing/2014/main" id="{49D9AFC8-8C38-0E56-A23D-D6ECD0968A51}"/>
              </a:ext>
            </a:extLst>
          </p:cNvPr>
          <p:cNvSpPr/>
          <p:nvPr/>
        </p:nvSpPr>
        <p:spPr>
          <a:xfrm>
            <a:off x="801330" y="1044095"/>
            <a:ext cx="5162590" cy="872390"/>
          </a:xfrm>
          <a:prstGeom prst="roundRect">
            <a:avLst>
              <a:gd name="adj" fmla="val 17141"/>
            </a:avLst>
          </a:prstGeom>
          <a:noFill/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文本框 58">
            <a:extLst>
              <a:ext uri="{FF2B5EF4-FFF2-40B4-BE49-F238E27FC236}">
                <a16:creationId xmlns:a16="http://schemas.microsoft.com/office/drawing/2014/main" id="{91767575-2AFE-BB6A-D4E3-F16E72D5D492}"/>
              </a:ext>
            </a:extLst>
          </p:cNvPr>
          <p:cNvSpPr txBox="1"/>
          <p:nvPr/>
        </p:nvSpPr>
        <p:spPr>
          <a:xfrm>
            <a:off x="1407275" y="1130072"/>
            <a:ext cx="3630167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Py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thon 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– Core programming language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S Code  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– Development environment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矩形: 圆角 64">
            <a:extLst>
              <a:ext uri="{FF2B5EF4-FFF2-40B4-BE49-F238E27FC236}">
                <a16:creationId xmlns:a16="http://schemas.microsoft.com/office/drawing/2014/main" id="{835C0BDF-36F5-F34D-574A-CBC8EFBAEDB9}"/>
              </a:ext>
            </a:extLst>
          </p:cNvPr>
          <p:cNvSpPr/>
          <p:nvPr/>
        </p:nvSpPr>
        <p:spPr>
          <a:xfrm rot="2700000">
            <a:off x="499607" y="1034538"/>
            <a:ext cx="821215" cy="822211"/>
          </a:xfrm>
          <a:prstGeom prst="roundRect">
            <a:avLst/>
          </a:prstGeom>
          <a:solidFill>
            <a:srgbClr val="D26859"/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40">
            <a:extLst>
              <a:ext uri="{FF2B5EF4-FFF2-40B4-BE49-F238E27FC236}">
                <a16:creationId xmlns:a16="http://schemas.microsoft.com/office/drawing/2014/main" id="{1CC4B7E7-B95E-EE10-FD2B-6F1E09444FE5}"/>
              </a:ext>
            </a:extLst>
          </p:cNvPr>
          <p:cNvSpPr txBox="1"/>
          <p:nvPr/>
        </p:nvSpPr>
        <p:spPr>
          <a:xfrm>
            <a:off x="360521" y="1333697"/>
            <a:ext cx="1162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</a:p>
        </p:txBody>
      </p:sp>
      <p:sp>
        <p:nvSpPr>
          <p:cNvPr id="66" name="矩形: 圆角 71">
            <a:extLst>
              <a:ext uri="{FF2B5EF4-FFF2-40B4-BE49-F238E27FC236}">
                <a16:creationId xmlns:a16="http://schemas.microsoft.com/office/drawing/2014/main" id="{D4099F34-03A3-500B-AD65-F241D94794D0}"/>
              </a:ext>
            </a:extLst>
          </p:cNvPr>
          <p:cNvSpPr/>
          <p:nvPr/>
        </p:nvSpPr>
        <p:spPr>
          <a:xfrm>
            <a:off x="696546" y="2259781"/>
            <a:ext cx="5267374" cy="802840"/>
          </a:xfrm>
          <a:prstGeom prst="roundRect">
            <a:avLst>
              <a:gd name="adj" fmla="val 17141"/>
            </a:avLst>
          </a:prstGeom>
          <a:noFill/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文本框 72">
            <a:extLst>
              <a:ext uri="{FF2B5EF4-FFF2-40B4-BE49-F238E27FC236}">
                <a16:creationId xmlns:a16="http://schemas.microsoft.com/office/drawing/2014/main" id="{037AD3AA-0BD5-8861-A82D-A572FB7EE287}"/>
              </a:ext>
            </a:extLst>
          </p:cNvPr>
          <p:cNvSpPr txBox="1"/>
          <p:nvPr/>
        </p:nvSpPr>
        <p:spPr>
          <a:xfrm>
            <a:off x="1491254" y="2515968"/>
            <a:ext cx="4114437" cy="304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50" b="1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sz="1050" dirty="0" err="1">
                <a:latin typeface="Arial" panose="020B0604020202020204" pitchFamily="34" charset="0"/>
                <a:cs typeface="Arial" panose="020B0604020202020204" pitchFamily="34" charset="0"/>
              </a:rPr>
              <a:t>Convulution</a:t>
            </a: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 Neural Network</a:t>
            </a:r>
            <a:endParaRPr lang="zh-CN" alt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矩形: 圆角 74">
            <a:extLst>
              <a:ext uri="{FF2B5EF4-FFF2-40B4-BE49-F238E27FC236}">
                <a16:creationId xmlns:a16="http://schemas.microsoft.com/office/drawing/2014/main" id="{7B28854A-499A-64F3-8F40-6B08413D369E}"/>
              </a:ext>
            </a:extLst>
          </p:cNvPr>
          <p:cNvSpPr/>
          <p:nvPr/>
        </p:nvSpPr>
        <p:spPr>
          <a:xfrm rot="2700000">
            <a:off x="368185" y="2288736"/>
            <a:ext cx="916061" cy="825758"/>
          </a:xfrm>
          <a:prstGeom prst="roundRect">
            <a:avLst/>
          </a:prstGeom>
          <a:solidFill>
            <a:srgbClr val="96C2C4"/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41">
            <a:extLst>
              <a:ext uri="{FF2B5EF4-FFF2-40B4-BE49-F238E27FC236}">
                <a16:creationId xmlns:a16="http://schemas.microsoft.com/office/drawing/2014/main" id="{52702A4B-BC57-5590-7A2C-D57EA2D99F86}"/>
              </a:ext>
            </a:extLst>
          </p:cNvPr>
          <p:cNvSpPr txBox="1"/>
          <p:nvPr/>
        </p:nvSpPr>
        <p:spPr>
          <a:xfrm>
            <a:off x="413180" y="2438343"/>
            <a:ext cx="867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</a:t>
            </a:r>
          </a:p>
          <a:p>
            <a:pPr algn="ctr"/>
            <a:r>
              <a: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78" name="矩形: 圆角 66">
            <a:extLst>
              <a:ext uri="{FF2B5EF4-FFF2-40B4-BE49-F238E27FC236}">
                <a16:creationId xmlns:a16="http://schemas.microsoft.com/office/drawing/2014/main" id="{F9B520C8-AE42-20B2-9E12-39BD7243D9D1}"/>
              </a:ext>
            </a:extLst>
          </p:cNvPr>
          <p:cNvSpPr/>
          <p:nvPr/>
        </p:nvSpPr>
        <p:spPr>
          <a:xfrm>
            <a:off x="696546" y="3584479"/>
            <a:ext cx="5267374" cy="746952"/>
          </a:xfrm>
          <a:prstGeom prst="roundRect">
            <a:avLst>
              <a:gd name="adj" fmla="val 17141"/>
            </a:avLst>
          </a:prstGeom>
          <a:noFill/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文本框 67">
            <a:extLst>
              <a:ext uri="{FF2B5EF4-FFF2-40B4-BE49-F238E27FC236}">
                <a16:creationId xmlns:a16="http://schemas.microsoft.com/office/drawing/2014/main" id="{5B920E35-5321-5392-B4E8-CD00BCEDF890}"/>
              </a:ext>
            </a:extLst>
          </p:cNvPr>
          <p:cNvSpPr txBox="1"/>
          <p:nvPr/>
        </p:nvSpPr>
        <p:spPr>
          <a:xfrm>
            <a:off x="1376883" y="3643837"/>
            <a:ext cx="3625679" cy="547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v-SE" sz="1050" b="1" dirty="0">
                <a:latin typeface="Arial" panose="020B0604020202020204" pitchFamily="34" charset="0"/>
                <a:cs typeface="Arial" panose="020B0604020202020204" pitchFamily="34" charset="0"/>
              </a:rPr>
              <a:t>NumPy, Pandas</a:t>
            </a:r>
            <a:r>
              <a:rPr lang="sv-SE" sz="1050" dirty="0">
                <a:latin typeface="Arial" panose="020B0604020202020204" pitchFamily="34" charset="0"/>
                <a:cs typeface="Arial" panose="020B0604020202020204" pitchFamily="34" charset="0"/>
              </a:rPr>
              <a:t> – Data handling &amp; preprocessing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50" b="1" dirty="0">
                <a:latin typeface="Arial" panose="020B0604020202020204" pitchFamily="34" charset="0"/>
                <a:cs typeface="Arial" panose="020B0604020202020204" pitchFamily="34" charset="0"/>
              </a:rPr>
              <a:t>OpenCV </a:t>
            </a:r>
            <a:r>
              <a:rPr lang="en-IN" sz="1050" dirty="0">
                <a:latin typeface="Arial" panose="020B0604020202020204" pitchFamily="34" charset="0"/>
                <a:cs typeface="Arial" panose="020B0604020202020204" pitchFamily="34" charset="0"/>
              </a:rPr>
              <a:t> – Image processing (resize, normalize)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矩形: 圆角 69">
            <a:extLst>
              <a:ext uri="{FF2B5EF4-FFF2-40B4-BE49-F238E27FC236}">
                <a16:creationId xmlns:a16="http://schemas.microsoft.com/office/drawing/2014/main" id="{3A166D1B-AF62-8FCB-2AD7-2376334187E4}"/>
              </a:ext>
            </a:extLst>
          </p:cNvPr>
          <p:cNvSpPr/>
          <p:nvPr/>
        </p:nvSpPr>
        <p:spPr>
          <a:xfrm rot="2700000">
            <a:off x="407382" y="3444066"/>
            <a:ext cx="787896" cy="916577"/>
          </a:xfrm>
          <a:prstGeom prst="roundRect">
            <a:avLst/>
          </a:prstGeom>
          <a:solidFill>
            <a:srgbClr val="B4AB8E"/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42">
            <a:extLst>
              <a:ext uri="{FF2B5EF4-FFF2-40B4-BE49-F238E27FC236}">
                <a16:creationId xmlns:a16="http://schemas.microsoft.com/office/drawing/2014/main" id="{B7B20621-EB65-C559-E917-20D4856B35CD}"/>
              </a:ext>
            </a:extLst>
          </p:cNvPr>
          <p:cNvSpPr txBox="1"/>
          <p:nvPr/>
        </p:nvSpPr>
        <p:spPr>
          <a:xfrm>
            <a:off x="261864" y="3633704"/>
            <a:ext cx="1029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</a:p>
          <a:p>
            <a:pPr algn="ctr"/>
            <a:r>
              <a: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</a:p>
        </p:txBody>
      </p:sp>
      <p:sp>
        <p:nvSpPr>
          <p:cNvPr id="88" name="矩形: 圆角 25">
            <a:extLst>
              <a:ext uri="{FF2B5EF4-FFF2-40B4-BE49-F238E27FC236}">
                <a16:creationId xmlns:a16="http://schemas.microsoft.com/office/drawing/2014/main" id="{EFA700BD-D149-70FE-E847-FA93E31812C6}"/>
              </a:ext>
            </a:extLst>
          </p:cNvPr>
          <p:cNvSpPr/>
          <p:nvPr/>
        </p:nvSpPr>
        <p:spPr>
          <a:xfrm>
            <a:off x="625328" y="4663211"/>
            <a:ext cx="5338592" cy="647844"/>
          </a:xfrm>
          <a:prstGeom prst="roundRect">
            <a:avLst>
              <a:gd name="adj" fmla="val 17141"/>
            </a:avLst>
          </a:prstGeom>
          <a:noFill/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文本框 58">
            <a:extLst>
              <a:ext uri="{FF2B5EF4-FFF2-40B4-BE49-F238E27FC236}">
                <a16:creationId xmlns:a16="http://schemas.microsoft.com/office/drawing/2014/main" id="{41C89234-3689-3AB4-4494-9FE1176878F0}"/>
              </a:ext>
            </a:extLst>
          </p:cNvPr>
          <p:cNvSpPr txBox="1"/>
          <p:nvPr/>
        </p:nvSpPr>
        <p:spPr>
          <a:xfrm>
            <a:off x="1266041" y="4780889"/>
            <a:ext cx="4202530" cy="33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atplotlib, Seaborn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– Accuracy, loss, confusion matrix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矩形: 圆角 64">
            <a:extLst>
              <a:ext uri="{FF2B5EF4-FFF2-40B4-BE49-F238E27FC236}">
                <a16:creationId xmlns:a16="http://schemas.microsoft.com/office/drawing/2014/main" id="{28C399D6-CF2B-D0EB-3C68-717489511C07}"/>
              </a:ext>
            </a:extLst>
          </p:cNvPr>
          <p:cNvSpPr/>
          <p:nvPr/>
        </p:nvSpPr>
        <p:spPr>
          <a:xfrm rot="2700000">
            <a:off x="397205" y="4618106"/>
            <a:ext cx="760701" cy="843489"/>
          </a:xfrm>
          <a:prstGeom prst="roundRect">
            <a:avLst/>
          </a:prstGeom>
          <a:solidFill>
            <a:srgbClr val="BAAEB4"/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文本框 40">
            <a:extLst>
              <a:ext uri="{FF2B5EF4-FFF2-40B4-BE49-F238E27FC236}">
                <a16:creationId xmlns:a16="http://schemas.microsoft.com/office/drawing/2014/main" id="{87BABFF4-C916-F4CA-B33A-CF965562466A}"/>
              </a:ext>
            </a:extLst>
          </p:cNvPr>
          <p:cNvSpPr txBox="1"/>
          <p:nvPr/>
        </p:nvSpPr>
        <p:spPr>
          <a:xfrm>
            <a:off x="225113" y="4921760"/>
            <a:ext cx="1119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  <a:endParaRPr lang="en-US" altLang="zh-CN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矩形: 圆角 71">
            <a:extLst>
              <a:ext uri="{FF2B5EF4-FFF2-40B4-BE49-F238E27FC236}">
                <a16:creationId xmlns:a16="http://schemas.microsoft.com/office/drawing/2014/main" id="{2777184E-1706-A987-7943-25CB6C47799F}"/>
              </a:ext>
            </a:extLst>
          </p:cNvPr>
          <p:cNvSpPr/>
          <p:nvPr/>
        </p:nvSpPr>
        <p:spPr>
          <a:xfrm>
            <a:off x="684864" y="5800340"/>
            <a:ext cx="5279056" cy="802840"/>
          </a:xfrm>
          <a:prstGeom prst="roundRect">
            <a:avLst>
              <a:gd name="adj" fmla="val 17141"/>
            </a:avLst>
          </a:prstGeom>
          <a:noFill/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矩形: 圆角 74">
            <a:extLst>
              <a:ext uri="{FF2B5EF4-FFF2-40B4-BE49-F238E27FC236}">
                <a16:creationId xmlns:a16="http://schemas.microsoft.com/office/drawing/2014/main" id="{5EC304B6-F02E-845F-1ED7-812A2BA7443E}"/>
              </a:ext>
            </a:extLst>
          </p:cNvPr>
          <p:cNvSpPr/>
          <p:nvPr/>
        </p:nvSpPr>
        <p:spPr>
          <a:xfrm rot="2700000">
            <a:off x="356503" y="5829295"/>
            <a:ext cx="916061" cy="825758"/>
          </a:xfrm>
          <a:prstGeom prst="roundRect">
            <a:avLst/>
          </a:prstGeom>
          <a:solidFill>
            <a:srgbClr val="96C2C4"/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文本框 41">
            <a:extLst>
              <a:ext uri="{FF2B5EF4-FFF2-40B4-BE49-F238E27FC236}">
                <a16:creationId xmlns:a16="http://schemas.microsoft.com/office/drawing/2014/main" id="{3DC60B0F-F205-D65A-3E1E-DEB2DAEC26A1}"/>
              </a:ext>
            </a:extLst>
          </p:cNvPr>
          <p:cNvSpPr txBox="1"/>
          <p:nvPr/>
        </p:nvSpPr>
        <p:spPr>
          <a:xfrm>
            <a:off x="346351" y="6013981"/>
            <a:ext cx="886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  <a:p>
            <a:pPr algn="ctr"/>
            <a:r>
              <a:rPr lang="en-I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</a:t>
            </a:r>
          </a:p>
        </p:txBody>
      </p:sp>
      <p:sp>
        <p:nvSpPr>
          <p:cNvPr id="100" name="Rectangle 5">
            <a:extLst>
              <a:ext uri="{FF2B5EF4-FFF2-40B4-BE49-F238E27FC236}">
                <a16:creationId xmlns:a16="http://schemas.microsoft.com/office/drawing/2014/main" id="{CA5407BE-F293-B180-FF1D-0D64228EF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004" y="5970927"/>
            <a:ext cx="34184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JSOC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Magnetogram images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NOAA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Solar activity data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153CAD7-A809-B018-EB4B-45991C3EB94E}"/>
              </a:ext>
            </a:extLst>
          </p:cNvPr>
          <p:cNvSpPr txBox="1"/>
          <p:nvPr/>
        </p:nvSpPr>
        <p:spPr>
          <a:xfrm>
            <a:off x="2000265" y="613626"/>
            <a:ext cx="1411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Tools Used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589D90-C044-2603-777E-33651AFE4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65"/>
          <a:stretch>
            <a:fillRect/>
          </a:stretch>
        </p:blipFill>
        <p:spPr>
          <a:xfrm>
            <a:off x="7001050" y="1130072"/>
            <a:ext cx="4580240" cy="53919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7200" y="180000"/>
            <a:ext cx="11277600" cy="57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Algerian" panose="04020705040A02060702" pitchFamily="82" charset="0"/>
              </a:rPr>
              <a:t>RESULTS &amp; DISCUSSION</a:t>
            </a:r>
          </a:p>
        </p:txBody>
      </p:sp>
      <p:sp>
        <p:nvSpPr>
          <p:cNvPr id="9" name="矩形: 圆角 2">
            <a:extLst>
              <a:ext uri="{FF2B5EF4-FFF2-40B4-BE49-F238E27FC236}">
                <a16:creationId xmlns:a16="http://schemas.microsoft.com/office/drawing/2014/main" id="{227973CC-AC4B-F114-F73E-490D5DC89989}"/>
              </a:ext>
            </a:extLst>
          </p:cNvPr>
          <p:cNvSpPr/>
          <p:nvPr/>
        </p:nvSpPr>
        <p:spPr>
          <a:xfrm rot="2700000">
            <a:off x="2588710" y="1779374"/>
            <a:ext cx="460893" cy="443116"/>
          </a:xfrm>
          <a:prstGeom prst="roundRect">
            <a:avLst/>
          </a:prstGeom>
          <a:solidFill>
            <a:srgbClr val="B4AB8E"/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10" name="矩形: 圆角 25">
            <a:extLst>
              <a:ext uri="{FF2B5EF4-FFF2-40B4-BE49-F238E27FC236}">
                <a16:creationId xmlns:a16="http://schemas.microsoft.com/office/drawing/2014/main" id="{72FB6F76-C2BA-050A-76C3-D6D2655C5243}"/>
              </a:ext>
            </a:extLst>
          </p:cNvPr>
          <p:cNvSpPr/>
          <p:nvPr/>
        </p:nvSpPr>
        <p:spPr>
          <a:xfrm rot="2700000">
            <a:off x="3094131" y="1779374"/>
            <a:ext cx="460893" cy="443116"/>
          </a:xfrm>
          <a:prstGeom prst="roundRect">
            <a:avLst/>
          </a:prstGeom>
          <a:solidFill>
            <a:srgbClr val="96C2C4"/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11" name="矩形: 圆角 26">
            <a:extLst>
              <a:ext uri="{FF2B5EF4-FFF2-40B4-BE49-F238E27FC236}">
                <a16:creationId xmlns:a16="http://schemas.microsoft.com/office/drawing/2014/main" id="{97FE9FC0-0E67-1D2F-6315-CE2136BD78EB}"/>
              </a:ext>
            </a:extLst>
          </p:cNvPr>
          <p:cNvSpPr/>
          <p:nvPr/>
        </p:nvSpPr>
        <p:spPr>
          <a:xfrm rot="2700000">
            <a:off x="2596495" y="2244373"/>
            <a:ext cx="460893" cy="443116"/>
          </a:xfrm>
          <a:prstGeom prst="roundRect">
            <a:avLst/>
          </a:prstGeom>
          <a:solidFill>
            <a:srgbClr val="D26859"/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12" name="矩形: 圆角 27">
            <a:extLst>
              <a:ext uri="{FF2B5EF4-FFF2-40B4-BE49-F238E27FC236}">
                <a16:creationId xmlns:a16="http://schemas.microsoft.com/office/drawing/2014/main" id="{814F8B2C-8949-5ACB-CB9E-CB8D9991A63A}"/>
              </a:ext>
            </a:extLst>
          </p:cNvPr>
          <p:cNvSpPr/>
          <p:nvPr/>
        </p:nvSpPr>
        <p:spPr>
          <a:xfrm rot="2700000">
            <a:off x="3092327" y="2249148"/>
            <a:ext cx="460893" cy="443116"/>
          </a:xfrm>
          <a:prstGeom prst="roundRect">
            <a:avLst/>
          </a:prstGeom>
          <a:solidFill>
            <a:srgbClr val="BAAEB4"/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Open Sans" panose="020B0606030504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B7C1E2-F057-9D97-1B2F-C61CF5DDE1FA}"/>
              </a:ext>
            </a:extLst>
          </p:cNvPr>
          <p:cNvSpPr txBox="1"/>
          <p:nvPr/>
        </p:nvSpPr>
        <p:spPr>
          <a:xfrm>
            <a:off x="717052" y="1611316"/>
            <a:ext cx="18935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latin typeface="Arial" panose="020B0604020202020204" pitchFamily="34" charset="0"/>
                <a:cs typeface="Arial" panose="020B0604020202020204" pitchFamily="34" charset="0"/>
              </a:rPr>
              <a:t>Dataset: JSOC + NOAA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900" dirty="0">
                <a:latin typeface="Arial" panose="020B0604020202020204" pitchFamily="34" charset="0"/>
                <a:cs typeface="Arial" panose="020B0604020202020204" pitchFamily="34" charset="0"/>
              </a:rPr>
              <a:t>Input Size: 256 × 256 images </a:t>
            </a:r>
            <a:b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8D82F-690D-DCA4-4BDC-171F9A151E3C}"/>
              </a:ext>
            </a:extLst>
          </p:cNvPr>
          <p:cNvSpPr txBox="1"/>
          <p:nvPr/>
        </p:nvSpPr>
        <p:spPr>
          <a:xfrm>
            <a:off x="1108860" y="2293670"/>
            <a:ext cx="14368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Preprocessing: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Noise reduction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Normalization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Image resizing </a:t>
            </a:r>
            <a:endParaRPr lang="en-IN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39D8DA-B4D7-3167-7C47-BACBC2D4C860}"/>
              </a:ext>
            </a:extLst>
          </p:cNvPr>
          <p:cNvSpPr txBox="1"/>
          <p:nvPr/>
        </p:nvSpPr>
        <p:spPr>
          <a:xfrm>
            <a:off x="3658726" y="1681316"/>
            <a:ext cx="24412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Model: CNN (</a:t>
            </a:r>
            <a:r>
              <a:rPr lang="en-IN" sz="1000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Loss: Binary </a:t>
            </a:r>
            <a:r>
              <a:rPr lang="en-IN" sz="1000" dirty="0" err="1">
                <a:latin typeface="Arial" panose="020B0604020202020204" pitchFamily="34" charset="0"/>
                <a:cs typeface="Arial" panose="020B0604020202020204" pitchFamily="34" charset="0"/>
              </a:rPr>
              <a:t>Crossentropy</a:t>
            </a:r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8D2786-C59B-D549-3F79-4115E4F918CC}"/>
              </a:ext>
            </a:extLst>
          </p:cNvPr>
          <p:cNvSpPr txBox="1"/>
          <p:nvPr/>
        </p:nvSpPr>
        <p:spPr>
          <a:xfrm>
            <a:off x="3658726" y="2346212"/>
            <a:ext cx="20561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Train/Test: 80/20 split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000" dirty="0" err="1"/>
              <a:t>utput</a:t>
            </a:r>
            <a:r>
              <a:rPr lang="en-US" sz="1000" dirty="0"/>
              <a:t>: Binary Classification (Flare / No Flare)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8B31FF-CD61-8041-0999-DFB0876DAA27}"/>
              </a:ext>
            </a:extLst>
          </p:cNvPr>
          <p:cNvSpPr txBox="1"/>
          <p:nvPr/>
        </p:nvSpPr>
        <p:spPr>
          <a:xfrm>
            <a:off x="1640409" y="886581"/>
            <a:ext cx="3072482" cy="367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Experimental Setup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8202" name="Picture 10" descr="Database - Free technology icons">
            <a:extLst>
              <a:ext uri="{FF2B5EF4-FFF2-40B4-BE49-F238E27FC236}">
                <a16:creationId xmlns:a16="http://schemas.microsoft.com/office/drawing/2014/main" id="{1A9BB1CB-9FCD-2F20-B433-B07818F1D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719" y="1894424"/>
            <a:ext cx="194874" cy="19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F0F9F2-09EC-380A-85AC-12B2EC886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539" y="2334474"/>
            <a:ext cx="279233" cy="2792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6CF47D-10A5-D9AB-F58E-C0358E17C9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650" y="1825777"/>
            <a:ext cx="320538" cy="32053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DA5FD73-A256-7F0E-9D6B-9615F421A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4380" y="2276315"/>
            <a:ext cx="423679" cy="423679"/>
          </a:xfrm>
          <a:prstGeom prst="rect">
            <a:avLst/>
          </a:prstGeom>
        </p:spPr>
      </p:pic>
      <p:grpSp>
        <p:nvGrpSpPr>
          <p:cNvPr id="8203" name="Google Shape;1272;p33">
            <a:extLst>
              <a:ext uri="{FF2B5EF4-FFF2-40B4-BE49-F238E27FC236}">
                <a16:creationId xmlns:a16="http://schemas.microsoft.com/office/drawing/2014/main" id="{E0994205-6639-22F7-359F-79752666A293}"/>
              </a:ext>
            </a:extLst>
          </p:cNvPr>
          <p:cNvGrpSpPr/>
          <p:nvPr/>
        </p:nvGrpSpPr>
        <p:grpSpPr>
          <a:xfrm>
            <a:off x="6327141" y="1392277"/>
            <a:ext cx="1613387" cy="284802"/>
            <a:chOff x="739811" y="2396661"/>
            <a:chExt cx="2148937" cy="690675"/>
          </a:xfrm>
        </p:grpSpPr>
        <p:sp>
          <p:nvSpPr>
            <p:cNvPr id="8204" name="Google Shape;1273;p33">
              <a:extLst>
                <a:ext uri="{FF2B5EF4-FFF2-40B4-BE49-F238E27FC236}">
                  <a16:creationId xmlns:a16="http://schemas.microsoft.com/office/drawing/2014/main" id="{9FCC906C-3A01-050A-45CE-D5D59AA89733}"/>
                </a:ext>
              </a:extLst>
            </p:cNvPr>
            <p:cNvSpPr txBox="1"/>
            <p:nvPr/>
          </p:nvSpPr>
          <p:spPr>
            <a:xfrm>
              <a:off x="911748" y="2520636"/>
              <a:ext cx="1977000" cy="5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/>
              <a:r>
                <a:rPr lang="en-IN" sz="900" dirty="0">
                  <a:latin typeface="Arial" panose="020B0604020202020204" pitchFamily="34" charset="0"/>
                  <a:cs typeface="Arial" panose="020B0604020202020204" pitchFamily="34" charset="0"/>
                </a:rPr>
                <a:t>91% (Optimized CNN)</a:t>
              </a:r>
              <a:endParaRPr sz="9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  <p:sp>
          <p:nvSpPr>
            <p:cNvPr id="8205" name="Google Shape;1274;p33">
              <a:extLst>
                <a:ext uri="{FF2B5EF4-FFF2-40B4-BE49-F238E27FC236}">
                  <a16:creationId xmlns:a16="http://schemas.microsoft.com/office/drawing/2014/main" id="{2CD73CA7-DA88-2CBA-67E2-CFB639BB46CF}"/>
                </a:ext>
              </a:extLst>
            </p:cNvPr>
            <p:cNvSpPr txBox="1"/>
            <p:nvPr/>
          </p:nvSpPr>
          <p:spPr>
            <a:xfrm>
              <a:off x="739811" y="2396661"/>
              <a:ext cx="1977000" cy="20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-IN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Final Accuracy</a:t>
              </a:r>
              <a:endParaRPr sz="900" b="1" dirty="0">
                <a:latin typeface="Arial" panose="020B0604020202020204" pitchFamily="34" charset="0"/>
                <a:ea typeface="Fira Sans Extra Condensed"/>
                <a:cs typeface="Arial" panose="020B0604020202020204" pitchFamily="34" charset="0"/>
                <a:sym typeface="Fira Sans Extra Condensed"/>
              </a:endParaRPr>
            </a:p>
          </p:txBody>
        </p:sp>
      </p:grpSp>
      <p:grpSp>
        <p:nvGrpSpPr>
          <p:cNvPr id="8206" name="Google Shape;1275;p33">
            <a:extLst>
              <a:ext uri="{FF2B5EF4-FFF2-40B4-BE49-F238E27FC236}">
                <a16:creationId xmlns:a16="http://schemas.microsoft.com/office/drawing/2014/main" id="{D08B781C-6D72-084F-D615-FBB62BE89612}"/>
              </a:ext>
            </a:extLst>
          </p:cNvPr>
          <p:cNvGrpSpPr/>
          <p:nvPr/>
        </p:nvGrpSpPr>
        <p:grpSpPr>
          <a:xfrm>
            <a:off x="5214621" y="1940279"/>
            <a:ext cx="2624007" cy="376172"/>
            <a:chOff x="656791" y="3255490"/>
            <a:chExt cx="2262554" cy="694260"/>
          </a:xfrm>
        </p:grpSpPr>
        <p:sp>
          <p:nvSpPr>
            <p:cNvPr id="8207" name="Google Shape;1276;p33">
              <a:extLst>
                <a:ext uri="{FF2B5EF4-FFF2-40B4-BE49-F238E27FC236}">
                  <a16:creationId xmlns:a16="http://schemas.microsoft.com/office/drawing/2014/main" id="{5941134A-D1B3-0DD6-3EA6-7F6BCBDCD0DA}"/>
                </a:ext>
              </a:extLst>
            </p:cNvPr>
            <p:cNvSpPr txBox="1"/>
            <p:nvPr/>
          </p:nvSpPr>
          <p:spPr>
            <a:xfrm>
              <a:off x="942345" y="3383050"/>
              <a:ext cx="1977000" cy="5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Model successfully learns spatial magnetic patterns </a:t>
              </a:r>
              <a:b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from magnetogram images </a:t>
              </a:r>
              <a:endParaRPr sz="9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  <p:sp>
          <p:nvSpPr>
            <p:cNvPr id="8208" name="Google Shape;1277;p33">
              <a:extLst>
                <a:ext uri="{FF2B5EF4-FFF2-40B4-BE49-F238E27FC236}">
                  <a16:creationId xmlns:a16="http://schemas.microsoft.com/office/drawing/2014/main" id="{BA28B1AA-D26F-BB91-5965-88C9E21C1EB1}"/>
                </a:ext>
              </a:extLst>
            </p:cNvPr>
            <p:cNvSpPr txBox="1"/>
            <p:nvPr/>
          </p:nvSpPr>
          <p:spPr>
            <a:xfrm>
              <a:off x="656791" y="3255490"/>
              <a:ext cx="1977000" cy="20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-IN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Feature Learning</a:t>
              </a:r>
              <a:endParaRPr sz="900" b="1" dirty="0">
                <a:latin typeface="Arial" panose="020B0604020202020204" pitchFamily="34" charset="0"/>
                <a:ea typeface="Fira Sans Extra Condensed"/>
                <a:cs typeface="Arial" panose="020B0604020202020204" pitchFamily="34" charset="0"/>
                <a:sym typeface="Fira Sans Extra Condensed"/>
              </a:endParaRPr>
            </a:p>
          </p:txBody>
        </p:sp>
      </p:grpSp>
      <p:grpSp>
        <p:nvGrpSpPr>
          <p:cNvPr id="8209" name="Google Shape;1278;p33">
            <a:extLst>
              <a:ext uri="{FF2B5EF4-FFF2-40B4-BE49-F238E27FC236}">
                <a16:creationId xmlns:a16="http://schemas.microsoft.com/office/drawing/2014/main" id="{5C909BF1-62EA-4AC3-F3D8-BAC87101EE4A}"/>
              </a:ext>
            </a:extLst>
          </p:cNvPr>
          <p:cNvGrpSpPr/>
          <p:nvPr/>
        </p:nvGrpSpPr>
        <p:grpSpPr>
          <a:xfrm>
            <a:off x="5744212" y="2765651"/>
            <a:ext cx="2196316" cy="219841"/>
            <a:chOff x="535539" y="3952226"/>
            <a:chExt cx="2025883" cy="405736"/>
          </a:xfrm>
        </p:grpSpPr>
        <p:sp>
          <p:nvSpPr>
            <p:cNvPr id="8210" name="Google Shape;1279;p33">
              <a:extLst>
                <a:ext uri="{FF2B5EF4-FFF2-40B4-BE49-F238E27FC236}">
                  <a16:creationId xmlns:a16="http://schemas.microsoft.com/office/drawing/2014/main" id="{4C94796D-D061-DEB8-F52E-3A723FE18E52}"/>
                </a:ext>
              </a:extLst>
            </p:cNvPr>
            <p:cNvSpPr txBox="1"/>
            <p:nvPr/>
          </p:nvSpPr>
          <p:spPr>
            <a:xfrm>
              <a:off x="584423" y="4056474"/>
              <a:ext cx="1976999" cy="3014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r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High flare detection rate (True Positives ↑) </a:t>
              </a:r>
              <a:b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sz="9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  <p:sp>
          <p:nvSpPr>
            <p:cNvPr id="8211" name="Google Shape;1280;p33">
              <a:extLst>
                <a:ext uri="{FF2B5EF4-FFF2-40B4-BE49-F238E27FC236}">
                  <a16:creationId xmlns:a16="http://schemas.microsoft.com/office/drawing/2014/main" id="{DF02BA27-E5FD-55CE-AA5B-7BA69D968F1A}"/>
                </a:ext>
              </a:extLst>
            </p:cNvPr>
            <p:cNvSpPr txBox="1"/>
            <p:nvPr/>
          </p:nvSpPr>
          <p:spPr>
            <a:xfrm>
              <a:off x="535539" y="3952226"/>
              <a:ext cx="1759371" cy="20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-IN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Detection Performance</a:t>
              </a:r>
              <a:endParaRPr lang="en-IN" sz="900" b="1" dirty="0">
                <a:latin typeface="Arial" panose="020B0604020202020204" pitchFamily="34" charset="0"/>
                <a:ea typeface="Fira Sans Extra Condensed"/>
                <a:cs typeface="Arial" panose="020B0604020202020204" pitchFamily="34" charset="0"/>
                <a:sym typeface="Fira Sans Extra Condensed"/>
              </a:endParaRPr>
            </a:p>
          </p:txBody>
        </p:sp>
      </p:grpSp>
      <p:grpSp>
        <p:nvGrpSpPr>
          <p:cNvPr id="8212" name="Google Shape;1281;p33">
            <a:extLst>
              <a:ext uri="{FF2B5EF4-FFF2-40B4-BE49-F238E27FC236}">
                <a16:creationId xmlns:a16="http://schemas.microsoft.com/office/drawing/2014/main" id="{70990C3E-42DE-DD9B-772D-0058137D811A}"/>
              </a:ext>
            </a:extLst>
          </p:cNvPr>
          <p:cNvGrpSpPr/>
          <p:nvPr/>
        </p:nvGrpSpPr>
        <p:grpSpPr>
          <a:xfrm>
            <a:off x="9512461" y="1433828"/>
            <a:ext cx="2939740" cy="365882"/>
            <a:chOff x="5178347" y="2402587"/>
            <a:chExt cx="2403981" cy="675269"/>
          </a:xfrm>
        </p:grpSpPr>
        <p:sp>
          <p:nvSpPr>
            <p:cNvPr id="8213" name="Google Shape;1282;p33">
              <a:extLst>
                <a:ext uri="{FF2B5EF4-FFF2-40B4-BE49-F238E27FC236}">
                  <a16:creationId xmlns:a16="http://schemas.microsoft.com/office/drawing/2014/main" id="{D631E428-EC40-6B54-F96E-41868D902676}"/>
                </a:ext>
              </a:extLst>
            </p:cNvPr>
            <p:cNvSpPr txBox="1"/>
            <p:nvPr/>
          </p:nvSpPr>
          <p:spPr>
            <a:xfrm>
              <a:off x="5178347" y="2511156"/>
              <a:ext cx="1977000" cy="5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Low false predictions (Reduced False Positives) </a:t>
              </a:r>
              <a:b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sz="900" dirty="0">
                <a:solidFill>
                  <a:schemeClr val="dk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  <p:sp>
          <p:nvSpPr>
            <p:cNvPr id="8214" name="Google Shape;1283;p33">
              <a:extLst>
                <a:ext uri="{FF2B5EF4-FFF2-40B4-BE49-F238E27FC236}">
                  <a16:creationId xmlns:a16="http://schemas.microsoft.com/office/drawing/2014/main" id="{8EC400C4-7948-AE06-D65A-B89C01B4489B}"/>
                </a:ext>
              </a:extLst>
            </p:cNvPr>
            <p:cNvSpPr txBox="1"/>
            <p:nvPr/>
          </p:nvSpPr>
          <p:spPr>
            <a:xfrm>
              <a:off x="5607728" y="2402587"/>
              <a:ext cx="1974600" cy="20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Error Reduction</a:t>
              </a:r>
              <a:endParaRPr sz="900" b="1" dirty="0">
                <a:latin typeface="Arial" panose="020B0604020202020204" pitchFamily="34" charset="0"/>
                <a:ea typeface="Fira Sans Extra Condensed"/>
                <a:cs typeface="Arial" panose="020B0604020202020204" pitchFamily="34" charset="0"/>
                <a:sym typeface="Fira Sans Extra Condensed"/>
              </a:endParaRPr>
            </a:p>
          </p:txBody>
        </p:sp>
      </p:grpSp>
      <p:grpSp>
        <p:nvGrpSpPr>
          <p:cNvPr id="8215" name="Google Shape;1284;p33">
            <a:extLst>
              <a:ext uri="{FF2B5EF4-FFF2-40B4-BE49-F238E27FC236}">
                <a16:creationId xmlns:a16="http://schemas.microsoft.com/office/drawing/2014/main" id="{A978CEB5-F48B-4299-CC14-C0286A55A971}"/>
              </a:ext>
            </a:extLst>
          </p:cNvPr>
          <p:cNvGrpSpPr/>
          <p:nvPr/>
        </p:nvGrpSpPr>
        <p:grpSpPr>
          <a:xfrm>
            <a:off x="9608039" y="2063417"/>
            <a:ext cx="2830222" cy="347049"/>
            <a:chOff x="5235827" y="3240229"/>
            <a:chExt cx="2233168" cy="640512"/>
          </a:xfrm>
        </p:grpSpPr>
        <p:sp>
          <p:nvSpPr>
            <p:cNvPr id="8216" name="Google Shape;1285;p33">
              <a:extLst>
                <a:ext uri="{FF2B5EF4-FFF2-40B4-BE49-F238E27FC236}">
                  <a16:creationId xmlns:a16="http://schemas.microsoft.com/office/drawing/2014/main" id="{DD8243C9-F2E2-D884-F543-728131FB7E14}"/>
                </a:ext>
              </a:extLst>
            </p:cNvPr>
            <p:cNvSpPr txBox="1"/>
            <p:nvPr/>
          </p:nvSpPr>
          <p:spPr>
            <a:xfrm>
              <a:off x="5235827" y="3314041"/>
              <a:ext cx="1977000" cy="5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IN" sz="900" dirty="0">
                  <a:latin typeface="Arial" panose="020B0604020202020204" pitchFamily="34" charset="0"/>
                  <a:cs typeface="Arial" panose="020B0604020202020204" pitchFamily="34" charset="0"/>
                </a:rPr>
                <a:t>Stable performance on unseen validation data </a:t>
              </a:r>
              <a:br>
                <a:rPr lang="en-IN" sz="9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sz="900" dirty="0">
                <a:solidFill>
                  <a:schemeClr val="dk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  <p:sp>
          <p:nvSpPr>
            <p:cNvPr id="8217" name="Google Shape;1286;p33">
              <a:extLst>
                <a:ext uri="{FF2B5EF4-FFF2-40B4-BE49-F238E27FC236}">
                  <a16:creationId xmlns:a16="http://schemas.microsoft.com/office/drawing/2014/main" id="{B9700563-4ED5-7993-2FD9-65A3B2E301D9}"/>
                </a:ext>
              </a:extLst>
            </p:cNvPr>
            <p:cNvSpPr txBox="1"/>
            <p:nvPr/>
          </p:nvSpPr>
          <p:spPr>
            <a:xfrm>
              <a:off x="5494395" y="3240229"/>
              <a:ext cx="1974600" cy="20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Generalization</a:t>
              </a:r>
              <a:endParaRPr sz="900" b="1" dirty="0">
                <a:latin typeface="Arial" panose="020B0604020202020204" pitchFamily="34" charset="0"/>
                <a:ea typeface="Fira Sans Extra Condensed"/>
                <a:cs typeface="Arial" panose="020B0604020202020204" pitchFamily="34" charset="0"/>
                <a:sym typeface="Fira Sans Extra Condensed"/>
              </a:endParaRPr>
            </a:p>
          </p:txBody>
        </p:sp>
      </p:grpSp>
      <p:grpSp>
        <p:nvGrpSpPr>
          <p:cNvPr id="8218" name="Google Shape;1287;p33">
            <a:extLst>
              <a:ext uri="{FF2B5EF4-FFF2-40B4-BE49-F238E27FC236}">
                <a16:creationId xmlns:a16="http://schemas.microsoft.com/office/drawing/2014/main" id="{817B8B1D-D101-773B-1399-E468E262EB0F}"/>
              </a:ext>
            </a:extLst>
          </p:cNvPr>
          <p:cNvGrpSpPr/>
          <p:nvPr/>
        </p:nvGrpSpPr>
        <p:grpSpPr>
          <a:xfrm>
            <a:off x="9373567" y="2654513"/>
            <a:ext cx="3001214" cy="348627"/>
            <a:chOff x="4938932" y="4012676"/>
            <a:chExt cx="2271495" cy="643423"/>
          </a:xfrm>
        </p:grpSpPr>
        <p:sp>
          <p:nvSpPr>
            <p:cNvPr id="8219" name="Google Shape;1288;p33">
              <a:extLst>
                <a:ext uri="{FF2B5EF4-FFF2-40B4-BE49-F238E27FC236}">
                  <a16:creationId xmlns:a16="http://schemas.microsoft.com/office/drawing/2014/main" id="{62D6C97D-14F2-28C8-9FE9-270E8B7D0E8A}"/>
                </a:ext>
              </a:extLst>
            </p:cNvPr>
            <p:cNvSpPr txBox="1"/>
            <p:nvPr/>
          </p:nvSpPr>
          <p:spPr>
            <a:xfrm>
              <a:off x="4938932" y="4089399"/>
              <a:ext cx="1977000" cy="5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/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Confusion matrix confirms strong classification </a:t>
              </a:r>
              <a:b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900" dirty="0">
                  <a:latin typeface="Arial" panose="020B0604020202020204" pitchFamily="34" charset="0"/>
                  <a:cs typeface="Arial" panose="020B0604020202020204" pitchFamily="34" charset="0"/>
                </a:rPr>
                <a:t>between Flare and No-Flare events</a:t>
              </a:r>
              <a:endParaRPr sz="900" dirty="0">
                <a:solidFill>
                  <a:schemeClr val="dk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  <p:sp>
          <p:nvSpPr>
            <p:cNvPr id="8220" name="Google Shape;1289;p33">
              <a:extLst>
                <a:ext uri="{FF2B5EF4-FFF2-40B4-BE49-F238E27FC236}">
                  <a16:creationId xmlns:a16="http://schemas.microsoft.com/office/drawing/2014/main" id="{5661C344-618C-E678-3BF0-AB24A8618B75}"/>
                </a:ext>
              </a:extLst>
            </p:cNvPr>
            <p:cNvSpPr txBox="1"/>
            <p:nvPr/>
          </p:nvSpPr>
          <p:spPr>
            <a:xfrm>
              <a:off x="5235827" y="4012676"/>
              <a:ext cx="1974600" cy="20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IN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Evaluation Validation</a:t>
              </a:r>
              <a:endParaRPr sz="900" b="1" dirty="0">
                <a:latin typeface="Arial" panose="020B0604020202020204" pitchFamily="34" charset="0"/>
                <a:ea typeface="Fira Sans Extra Condensed"/>
                <a:cs typeface="Arial" panose="020B0604020202020204" pitchFamily="34" charset="0"/>
                <a:sym typeface="Fira Sans Extra Condensed"/>
              </a:endParaRPr>
            </a:p>
          </p:txBody>
        </p:sp>
      </p:grpSp>
      <p:grpSp>
        <p:nvGrpSpPr>
          <p:cNvPr id="8221" name="Google Shape;1290;p33">
            <a:extLst>
              <a:ext uri="{FF2B5EF4-FFF2-40B4-BE49-F238E27FC236}">
                <a16:creationId xmlns:a16="http://schemas.microsoft.com/office/drawing/2014/main" id="{57207132-AF63-E9B7-9F45-933128EF211B}"/>
              </a:ext>
            </a:extLst>
          </p:cNvPr>
          <p:cNvGrpSpPr/>
          <p:nvPr/>
        </p:nvGrpSpPr>
        <p:grpSpPr>
          <a:xfrm>
            <a:off x="7859948" y="1362663"/>
            <a:ext cx="1988329" cy="1887729"/>
            <a:chOff x="2480052" y="733518"/>
            <a:chExt cx="4174676" cy="2564711"/>
          </a:xfrm>
        </p:grpSpPr>
        <p:sp>
          <p:nvSpPr>
            <p:cNvPr id="8222" name="Google Shape;1291;p33">
              <a:extLst>
                <a:ext uri="{FF2B5EF4-FFF2-40B4-BE49-F238E27FC236}">
                  <a16:creationId xmlns:a16="http://schemas.microsoft.com/office/drawing/2014/main" id="{6166F8D6-9A3E-8DDE-2BA2-F7D8BF4CBA44}"/>
                </a:ext>
              </a:extLst>
            </p:cNvPr>
            <p:cNvSpPr/>
            <p:nvPr/>
          </p:nvSpPr>
          <p:spPr>
            <a:xfrm>
              <a:off x="5139617" y="1298079"/>
              <a:ext cx="719161" cy="810062"/>
            </a:xfrm>
            <a:custGeom>
              <a:avLst/>
              <a:gdLst/>
              <a:ahLst/>
              <a:cxnLst/>
              <a:rect l="l" t="t" r="r" b="b"/>
              <a:pathLst>
                <a:path w="4985" h="8054" extrusionOk="0">
                  <a:moveTo>
                    <a:pt x="1392" y="1"/>
                  </a:moveTo>
                  <a:cubicBezTo>
                    <a:pt x="2021" y="1023"/>
                    <a:pt x="2361" y="2387"/>
                    <a:pt x="2283" y="3751"/>
                  </a:cubicBezTo>
                  <a:cubicBezTo>
                    <a:pt x="2256" y="4433"/>
                    <a:pt x="2126" y="5090"/>
                    <a:pt x="1916" y="5640"/>
                  </a:cubicBezTo>
                  <a:cubicBezTo>
                    <a:pt x="1732" y="6112"/>
                    <a:pt x="1496" y="6479"/>
                    <a:pt x="1207" y="6716"/>
                  </a:cubicBezTo>
                  <a:cubicBezTo>
                    <a:pt x="710" y="7136"/>
                    <a:pt x="315" y="7581"/>
                    <a:pt x="0" y="8053"/>
                  </a:cubicBezTo>
                  <a:lnTo>
                    <a:pt x="2886" y="8053"/>
                  </a:lnTo>
                  <a:cubicBezTo>
                    <a:pt x="4540" y="6427"/>
                    <a:pt x="4984" y="2859"/>
                    <a:pt x="38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3" name="Google Shape;1292;p33">
              <a:extLst>
                <a:ext uri="{FF2B5EF4-FFF2-40B4-BE49-F238E27FC236}">
                  <a16:creationId xmlns:a16="http://schemas.microsoft.com/office/drawing/2014/main" id="{68C76025-9A36-B7DE-576B-C9EE1F3EDBFB}"/>
                </a:ext>
              </a:extLst>
            </p:cNvPr>
            <p:cNvSpPr/>
            <p:nvPr/>
          </p:nvSpPr>
          <p:spPr>
            <a:xfrm>
              <a:off x="3448100" y="809859"/>
              <a:ext cx="1131470" cy="488310"/>
            </a:xfrm>
            <a:custGeom>
              <a:avLst/>
              <a:gdLst/>
              <a:ahLst/>
              <a:cxnLst/>
              <a:rect l="l" t="t" r="r" b="b"/>
              <a:pathLst>
                <a:path w="7843" h="4855" extrusionOk="0">
                  <a:moveTo>
                    <a:pt x="7398" y="1"/>
                  </a:moveTo>
                  <a:cubicBezTo>
                    <a:pt x="6374" y="1"/>
                    <a:pt x="3698" y="238"/>
                    <a:pt x="1469" y="2519"/>
                  </a:cubicBezTo>
                  <a:cubicBezTo>
                    <a:pt x="840" y="3176"/>
                    <a:pt x="340" y="3988"/>
                    <a:pt x="0" y="4855"/>
                  </a:cubicBezTo>
                  <a:lnTo>
                    <a:pt x="2466" y="4855"/>
                  </a:lnTo>
                  <a:cubicBezTo>
                    <a:pt x="2623" y="4592"/>
                    <a:pt x="2833" y="4330"/>
                    <a:pt x="3043" y="4093"/>
                  </a:cubicBezTo>
                  <a:cubicBezTo>
                    <a:pt x="4695" y="2414"/>
                    <a:pt x="6663" y="2232"/>
                    <a:pt x="7423" y="2232"/>
                  </a:cubicBezTo>
                  <a:cubicBezTo>
                    <a:pt x="7555" y="2232"/>
                    <a:pt x="7633" y="2232"/>
                    <a:pt x="7633" y="2257"/>
                  </a:cubicBezTo>
                  <a:lnTo>
                    <a:pt x="7843" y="2257"/>
                  </a:lnTo>
                  <a:lnTo>
                    <a:pt x="7843" y="1"/>
                  </a:lnTo>
                  <a:cubicBezTo>
                    <a:pt x="7818" y="1"/>
                    <a:pt x="7818" y="28"/>
                    <a:pt x="7790" y="28"/>
                  </a:cubicBezTo>
                  <a:cubicBezTo>
                    <a:pt x="7738" y="1"/>
                    <a:pt x="7580" y="1"/>
                    <a:pt x="73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4" name="Google Shape;1293;p33">
              <a:extLst>
                <a:ext uri="{FF2B5EF4-FFF2-40B4-BE49-F238E27FC236}">
                  <a16:creationId xmlns:a16="http://schemas.microsoft.com/office/drawing/2014/main" id="{2EA33E61-9E8A-6A26-1B3D-753B1AB5AF3C}"/>
                </a:ext>
              </a:extLst>
            </p:cNvPr>
            <p:cNvSpPr/>
            <p:nvPr/>
          </p:nvSpPr>
          <p:spPr>
            <a:xfrm>
              <a:off x="3285223" y="1298079"/>
              <a:ext cx="719161" cy="810062"/>
            </a:xfrm>
            <a:custGeom>
              <a:avLst/>
              <a:gdLst/>
              <a:ahLst/>
              <a:cxnLst/>
              <a:rect l="l" t="t" r="r" b="b"/>
              <a:pathLst>
                <a:path w="4985" h="8054" extrusionOk="0">
                  <a:moveTo>
                    <a:pt x="1129" y="1"/>
                  </a:moveTo>
                  <a:cubicBezTo>
                    <a:pt x="0" y="2859"/>
                    <a:pt x="420" y="6427"/>
                    <a:pt x="2099" y="8053"/>
                  </a:cubicBezTo>
                  <a:lnTo>
                    <a:pt x="4984" y="8053"/>
                  </a:lnTo>
                  <a:cubicBezTo>
                    <a:pt x="4669" y="7581"/>
                    <a:pt x="4277" y="7136"/>
                    <a:pt x="3778" y="6716"/>
                  </a:cubicBezTo>
                  <a:cubicBezTo>
                    <a:pt x="3490" y="6479"/>
                    <a:pt x="3253" y="6112"/>
                    <a:pt x="3070" y="5640"/>
                  </a:cubicBezTo>
                  <a:cubicBezTo>
                    <a:pt x="2860" y="5090"/>
                    <a:pt x="2728" y="4433"/>
                    <a:pt x="2703" y="3751"/>
                  </a:cubicBezTo>
                  <a:cubicBezTo>
                    <a:pt x="2623" y="2387"/>
                    <a:pt x="2965" y="1023"/>
                    <a:pt x="35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5" name="Google Shape;1294;p33">
              <a:extLst>
                <a:ext uri="{FF2B5EF4-FFF2-40B4-BE49-F238E27FC236}">
                  <a16:creationId xmlns:a16="http://schemas.microsoft.com/office/drawing/2014/main" id="{11736F84-CCA5-51D5-2A80-7C108CF4E6C2}"/>
                </a:ext>
              </a:extLst>
            </p:cNvPr>
            <p:cNvSpPr/>
            <p:nvPr/>
          </p:nvSpPr>
          <p:spPr>
            <a:xfrm>
              <a:off x="3587893" y="2108057"/>
              <a:ext cx="991677" cy="580541"/>
            </a:xfrm>
            <a:custGeom>
              <a:avLst/>
              <a:gdLst/>
              <a:ahLst/>
              <a:cxnLst/>
              <a:rect l="l" t="t" r="r" b="b"/>
              <a:pathLst>
                <a:path w="6874" h="5772" extrusionOk="0">
                  <a:moveTo>
                    <a:pt x="1" y="0"/>
                  </a:moveTo>
                  <a:cubicBezTo>
                    <a:pt x="53" y="80"/>
                    <a:pt x="133" y="132"/>
                    <a:pt x="185" y="210"/>
                  </a:cubicBezTo>
                  <a:cubicBezTo>
                    <a:pt x="2704" y="2336"/>
                    <a:pt x="2099" y="5771"/>
                    <a:pt x="2834" y="5771"/>
                  </a:cubicBezTo>
                  <a:lnTo>
                    <a:pt x="6874" y="5771"/>
                  </a:lnTo>
                  <a:lnTo>
                    <a:pt x="6874" y="3515"/>
                  </a:lnTo>
                  <a:lnTo>
                    <a:pt x="4250" y="3515"/>
                  </a:lnTo>
                  <a:cubicBezTo>
                    <a:pt x="4068" y="2598"/>
                    <a:pt x="3753" y="1259"/>
                    <a:pt x="28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6" name="Google Shape;1295;p33">
              <a:extLst>
                <a:ext uri="{FF2B5EF4-FFF2-40B4-BE49-F238E27FC236}">
                  <a16:creationId xmlns:a16="http://schemas.microsoft.com/office/drawing/2014/main" id="{AC8C9E1D-D541-8BB3-EF63-7642EAFFC93D}"/>
                </a:ext>
              </a:extLst>
            </p:cNvPr>
            <p:cNvSpPr/>
            <p:nvPr/>
          </p:nvSpPr>
          <p:spPr>
            <a:xfrm>
              <a:off x="4579432" y="809859"/>
              <a:ext cx="1116754" cy="488310"/>
            </a:xfrm>
            <a:custGeom>
              <a:avLst/>
              <a:gdLst/>
              <a:ahLst/>
              <a:cxnLst/>
              <a:rect l="l" t="t" r="r" b="b"/>
              <a:pathLst>
                <a:path w="7741" h="4855" extrusionOk="0">
                  <a:moveTo>
                    <a:pt x="1" y="1"/>
                  </a:moveTo>
                  <a:lnTo>
                    <a:pt x="1" y="2257"/>
                  </a:lnTo>
                  <a:lnTo>
                    <a:pt x="80" y="2257"/>
                  </a:lnTo>
                  <a:cubicBezTo>
                    <a:pt x="106" y="2232"/>
                    <a:pt x="185" y="2232"/>
                    <a:pt x="315" y="2232"/>
                  </a:cubicBezTo>
                  <a:cubicBezTo>
                    <a:pt x="1077" y="2232"/>
                    <a:pt x="3044" y="2414"/>
                    <a:pt x="4670" y="4093"/>
                  </a:cubicBezTo>
                  <a:cubicBezTo>
                    <a:pt x="4907" y="4330"/>
                    <a:pt x="5090" y="4592"/>
                    <a:pt x="5275" y="4855"/>
                  </a:cubicBezTo>
                  <a:lnTo>
                    <a:pt x="7740" y="4855"/>
                  </a:lnTo>
                  <a:cubicBezTo>
                    <a:pt x="7398" y="3988"/>
                    <a:pt x="6901" y="3176"/>
                    <a:pt x="6271" y="2519"/>
                  </a:cubicBezTo>
                  <a:cubicBezTo>
                    <a:pt x="4015" y="238"/>
                    <a:pt x="1365" y="1"/>
                    <a:pt x="3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7" name="Google Shape;1296;p33">
              <a:extLst>
                <a:ext uri="{FF2B5EF4-FFF2-40B4-BE49-F238E27FC236}">
                  <a16:creationId xmlns:a16="http://schemas.microsoft.com/office/drawing/2014/main" id="{DA35FC28-3C41-F4B9-3C56-A4FD61A31C26}"/>
                </a:ext>
              </a:extLst>
            </p:cNvPr>
            <p:cNvSpPr/>
            <p:nvPr/>
          </p:nvSpPr>
          <p:spPr>
            <a:xfrm>
              <a:off x="4579432" y="2108057"/>
              <a:ext cx="976530" cy="580541"/>
            </a:xfrm>
            <a:custGeom>
              <a:avLst/>
              <a:gdLst/>
              <a:ahLst/>
              <a:cxnLst/>
              <a:rect l="l" t="t" r="r" b="b"/>
              <a:pathLst>
                <a:path w="6769" h="5772" extrusionOk="0">
                  <a:moveTo>
                    <a:pt x="3883" y="0"/>
                  </a:moveTo>
                  <a:cubicBezTo>
                    <a:pt x="3019" y="1259"/>
                    <a:pt x="2704" y="2598"/>
                    <a:pt x="2519" y="3515"/>
                  </a:cubicBezTo>
                  <a:lnTo>
                    <a:pt x="1" y="3515"/>
                  </a:lnTo>
                  <a:lnTo>
                    <a:pt x="1" y="5771"/>
                  </a:lnTo>
                  <a:lnTo>
                    <a:pt x="3936" y="5771"/>
                  </a:lnTo>
                  <a:cubicBezTo>
                    <a:pt x="4670" y="5771"/>
                    <a:pt x="4068" y="2336"/>
                    <a:pt x="6559" y="210"/>
                  </a:cubicBezTo>
                  <a:cubicBezTo>
                    <a:pt x="6639" y="132"/>
                    <a:pt x="6716" y="80"/>
                    <a:pt x="67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8" name="Google Shape;1297;p33">
              <a:extLst>
                <a:ext uri="{FF2B5EF4-FFF2-40B4-BE49-F238E27FC236}">
                  <a16:creationId xmlns:a16="http://schemas.microsoft.com/office/drawing/2014/main" id="{6F0C91CD-5895-B084-2617-13BC10331C1D}"/>
                </a:ext>
              </a:extLst>
            </p:cNvPr>
            <p:cNvSpPr/>
            <p:nvPr/>
          </p:nvSpPr>
          <p:spPr>
            <a:xfrm>
              <a:off x="3319415" y="2042177"/>
              <a:ext cx="2501553" cy="108122"/>
            </a:xfrm>
            <a:custGeom>
              <a:avLst/>
              <a:gdLst/>
              <a:ahLst/>
              <a:cxnLst/>
              <a:rect l="l" t="t" r="r" b="b"/>
              <a:pathLst>
                <a:path w="17340" h="1075" extrusionOk="0">
                  <a:moveTo>
                    <a:pt x="0" y="0"/>
                  </a:moveTo>
                  <a:lnTo>
                    <a:pt x="0" y="1075"/>
                  </a:lnTo>
                  <a:lnTo>
                    <a:pt x="17339" y="1075"/>
                  </a:lnTo>
                  <a:lnTo>
                    <a:pt x="173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9" name="Google Shape;1298;p33">
              <a:extLst>
                <a:ext uri="{FF2B5EF4-FFF2-40B4-BE49-F238E27FC236}">
                  <a16:creationId xmlns:a16="http://schemas.microsoft.com/office/drawing/2014/main" id="{F4AC845C-08AF-AF37-F13C-DC4AD60556C8}"/>
                </a:ext>
              </a:extLst>
            </p:cNvPr>
            <p:cNvSpPr/>
            <p:nvPr/>
          </p:nvSpPr>
          <p:spPr>
            <a:xfrm>
              <a:off x="4492584" y="733518"/>
              <a:ext cx="155085" cy="1991964"/>
            </a:xfrm>
            <a:custGeom>
              <a:avLst/>
              <a:gdLst/>
              <a:ahLst/>
              <a:cxnLst/>
              <a:rect l="l" t="t" r="r" b="b"/>
              <a:pathLst>
                <a:path w="1075" h="19805" extrusionOk="0">
                  <a:moveTo>
                    <a:pt x="0" y="0"/>
                  </a:moveTo>
                  <a:lnTo>
                    <a:pt x="0" y="19805"/>
                  </a:lnTo>
                  <a:lnTo>
                    <a:pt x="1075" y="19805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0" name="Google Shape;1299;p33">
              <a:extLst>
                <a:ext uri="{FF2B5EF4-FFF2-40B4-BE49-F238E27FC236}">
                  <a16:creationId xmlns:a16="http://schemas.microsoft.com/office/drawing/2014/main" id="{9752E2FD-3251-CB57-2DDB-E368E5F7DF96}"/>
                </a:ext>
              </a:extLst>
            </p:cNvPr>
            <p:cNvSpPr/>
            <p:nvPr/>
          </p:nvSpPr>
          <p:spPr>
            <a:xfrm>
              <a:off x="3319415" y="1282288"/>
              <a:ext cx="2501553" cy="108122"/>
            </a:xfrm>
            <a:custGeom>
              <a:avLst/>
              <a:gdLst/>
              <a:ahLst/>
              <a:cxnLst/>
              <a:rect l="l" t="t" r="r" b="b"/>
              <a:pathLst>
                <a:path w="17340" h="1075" extrusionOk="0">
                  <a:moveTo>
                    <a:pt x="0" y="0"/>
                  </a:moveTo>
                  <a:lnTo>
                    <a:pt x="0" y="1075"/>
                  </a:lnTo>
                  <a:lnTo>
                    <a:pt x="17339" y="1075"/>
                  </a:lnTo>
                  <a:lnTo>
                    <a:pt x="173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1" name="Google Shape;1300;p33">
              <a:extLst>
                <a:ext uri="{FF2B5EF4-FFF2-40B4-BE49-F238E27FC236}">
                  <a16:creationId xmlns:a16="http://schemas.microsoft.com/office/drawing/2014/main" id="{BA9CBE92-7CA4-2021-6B42-0F6A27C9C985}"/>
                </a:ext>
              </a:extLst>
            </p:cNvPr>
            <p:cNvSpPr/>
            <p:nvPr/>
          </p:nvSpPr>
          <p:spPr>
            <a:xfrm>
              <a:off x="4647525" y="997341"/>
              <a:ext cx="745849" cy="285040"/>
            </a:xfrm>
            <a:custGeom>
              <a:avLst/>
              <a:gdLst/>
              <a:ahLst/>
              <a:cxnLst/>
              <a:rect l="l" t="t" r="r" b="b"/>
              <a:pathLst>
                <a:path w="5170" h="2834" extrusionOk="0">
                  <a:moveTo>
                    <a:pt x="1" y="0"/>
                  </a:moveTo>
                  <a:lnTo>
                    <a:pt x="1" y="368"/>
                  </a:lnTo>
                  <a:cubicBezTo>
                    <a:pt x="840" y="393"/>
                    <a:pt x="2677" y="655"/>
                    <a:pt x="4225" y="2229"/>
                  </a:cubicBezTo>
                  <a:cubicBezTo>
                    <a:pt x="4408" y="2414"/>
                    <a:pt x="4565" y="2596"/>
                    <a:pt x="4698" y="2833"/>
                  </a:cubicBezTo>
                  <a:lnTo>
                    <a:pt x="5170" y="2833"/>
                  </a:lnTo>
                  <a:cubicBezTo>
                    <a:pt x="4960" y="2491"/>
                    <a:pt x="4750" y="2204"/>
                    <a:pt x="4488" y="1967"/>
                  </a:cubicBezTo>
                  <a:cubicBezTo>
                    <a:pt x="2834" y="288"/>
                    <a:pt x="893" y="25"/>
                    <a:pt x="1" y="0"/>
                  </a:cubicBezTo>
                  <a:close/>
                </a:path>
              </a:pathLst>
            </a:custGeom>
            <a:solidFill>
              <a:srgbClr val="7647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2" name="Google Shape;1301;p33">
              <a:extLst>
                <a:ext uri="{FF2B5EF4-FFF2-40B4-BE49-F238E27FC236}">
                  <a16:creationId xmlns:a16="http://schemas.microsoft.com/office/drawing/2014/main" id="{BD54CA25-15AA-18EC-78FE-6D6C6E864364}"/>
                </a:ext>
              </a:extLst>
            </p:cNvPr>
            <p:cNvSpPr/>
            <p:nvPr/>
          </p:nvSpPr>
          <p:spPr>
            <a:xfrm>
              <a:off x="3750770" y="997341"/>
              <a:ext cx="741954" cy="285040"/>
            </a:xfrm>
            <a:custGeom>
              <a:avLst/>
              <a:gdLst/>
              <a:ahLst/>
              <a:cxnLst/>
              <a:rect l="l" t="t" r="r" b="b"/>
              <a:pathLst>
                <a:path w="5143" h="2834" extrusionOk="0">
                  <a:moveTo>
                    <a:pt x="5142" y="0"/>
                  </a:moveTo>
                  <a:cubicBezTo>
                    <a:pt x="4250" y="25"/>
                    <a:pt x="2309" y="288"/>
                    <a:pt x="656" y="1967"/>
                  </a:cubicBezTo>
                  <a:cubicBezTo>
                    <a:pt x="420" y="2204"/>
                    <a:pt x="211" y="2491"/>
                    <a:pt x="1" y="2833"/>
                  </a:cubicBezTo>
                  <a:lnTo>
                    <a:pt x="446" y="2833"/>
                  </a:lnTo>
                  <a:cubicBezTo>
                    <a:pt x="603" y="2596"/>
                    <a:pt x="760" y="2414"/>
                    <a:pt x="945" y="2229"/>
                  </a:cubicBezTo>
                  <a:cubicBezTo>
                    <a:pt x="2492" y="655"/>
                    <a:pt x="4303" y="393"/>
                    <a:pt x="5142" y="368"/>
                  </a:cubicBezTo>
                  <a:lnTo>
                    <a:pt x="5142" y="0"/>
                  </a:lnTo>
                  <a:close/>
                </a:path>
              </a:pathLst>
            </a:custGeom>
            <a:solidFill>
              <a:srgbClr val="1D33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3" name="Google Shape;1302;p33">
              <a:extLst>
                <a:ext uri="{FF2B5EF4-FFF2-40B4-BE49-F238E27FC236}">
                  <a16:creationId xmlns:a16="http://schemas.microsoft.com/office/drawing/2014/main" id="{150894DC-6D80-485F-4625-0A157137DEB6}"/>
                </a:ext>
              </a:extLst>
            </p:cNvPr>
            <p:cNvSpPr/>
            <p:nvPr/>
          </p:nvSpPr>
          <p:spPr>
            <a:xfrm>
              <a:off x="4492584" y="997341"/>
              <a:ext cx="155085" cy="37013"/>
            </a:xfrm>
            <a:custGeom>
              <a:avLst/>
              <a:gdLst/>
              <a:ahLst/>
              <a:cxnLst/>
              <a:rect l="l" t="t" r="r" b="b"/>
              <a:pathLst>
                <a:path w="1075" h="368" extrusionOk="0">
                  <a:moveTo>
                    <a:pt x="0" y="0"/>
                  </a:moveTo>
                  <a:lnTo>
                    <a:pt x="0" y="368"/>
                  </a:lnTo>
                  <a:lnTo>
                    <a:pt x="1075" y="368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E4E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4" name="Google Shape;1303;p33">
              <a:extLst>
                <a:ext uri="{FF2B5EF4-FFF2-40B4-BE49-F238E27FC236}">
                  <a16:creationId xmlns:a16="http://schemas.microsoft.com/office/drawing/2014/main" id="{67049BC3-4FA2-A935-72E3-260D84BAF194}"/>
                </a:ext>
              </a:extLst>
            </p:cNvPr>
            <p:cNvSpPr/>
            <p:nvPr/>
          </p:nvSpPr>
          <p:spPr>
            <a:xfrm>
              <a:off x="5222858" y="1670028"/>
              <a:ext cx="246260" cy="364196"/>
            </a:xfrm>
            <a:custGeom>
              <a:avLst/>
              <a:gdLst/>
              <a:ahLst/>
              <a:cxnLst/>
              <a:rect l="l" t="t" r="r" b="b"/>
              <a:pathLst>
                <a:path w="1707" h="3621" extrusionOk="0">
                  <a:moveTo>
                    <a:pt x="1706" y="1"/>
                  </a:moveTo>
                  <a:cubicBezTo>
                    <a:pt x="1694" y="257"/>
                    <a:pt x="1672" y="498"/>
                    <a:pt x="1640" y="724"/>
                  </a:cubicBezTo>
                  <a:lnTo>
                    <a:pt x="1640" y="724"/>
                  </a:lnTo>
                  <a:cubicBezTo>
                    <a:pt x="1672" y="509"/>
                    <a:pt x="1694" y="286"/>
                    <a:pt x="1706" y="53"/>
                  </a:cubicBezTo>
                  <a:lnTo>
                    <a:pt x="1706" y="1"/>
                  </a:lnTo>
                  <a:close/>
                  <a:moveTo>
                    <a:pt x="1640" y="724"/>
                  </a:moveTo>
                  <a:lnTo>
                    <a:pt x="1640" y="724"/>
                  </a:lnTo>
                  <a:cubicBezTo>
                    <a:pt x="1599" y="993"/>
                    <a:pt x="1543" y="1249"/>
                    <a:pt x="1469" y="1497"/>
                  </a:cubicBezTo>
                  <a:cubicBezTo>
                    <a:pt x="1543" y="1264"/>
                    <a:pt x="1599" y="1006"/>
                    <a:pt x="1640" y="724"/>
                  </a:cubicBezTo>
                  <a:close/>
                  <a:moveTo>
                    <a:pt x="815" y="2834"/>
                  </a:moveTo>
                  <a:lnTo>
                    <a:pt x="735" y="2913"/>
                  </a:lnTo>
                  <a:cubicBezTo>
                    <a:pt x="472" y="3123"/>
                    <a:pt x="237" y="3358"/>
                    <a:pt x="0" y="3621"/>
                  </a:cubicBezTo>
                  <a:cubicBezTo>
                    <a:pt x="210" y="3411"/>
                    <a:pt x="420" y="3201"/>
                    <a:pt x="630" y="3018"/>
                  </a:cubicBezTo>
                  <a:cubicBezTo>
                    <a:pt x="710" y="2966"/>
                    <a:pt x="762" y="2913"/>
                    <a:pt x="815" y="2834"/>
                  </a:cubicBezTo>
                  <a:close/>
                </a:path>
              </a:pathLst>
            </a:custGeom>
            <a:solidFill>
              <a:srgbClr val="E4E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5" name="Google Shape;1304;p33">
              <a:extLst>
                <a:ext uri="{FF2B5EF4-FFF2-40B4-BE49-F238E27FC236}">
                  <a16:creationId xmlns:a16="http://schemas.microsoft.com/office/drawing/2014/main" id="{4D4A5F30-FD40-E631-C611-F848F18B5087}"/>
                </a:ext>
              </a:extLst>
            </p:cNvPr>
            <p:cNvSpPr/>
            <p:nvPr/>
          </p:nvSpPr>
          <p:spPr>
            <a:xfrm>
              <a:off x="5215212" y="1390312"/>
              <a:ext cx="314498" cy="651952"/>
            </a:xfrm>
            <a:custGeom>
              <a:avLst/>
              <a:gdLst/>
              <a:ahLst/>
              <a:cxnLst/>
              <a:rect l="l" t="t" r="r" b="b"/>
              <a:pathLst>
                <a:path w="2180" h="6482" extrusionOk="0">
                  <a:moveTo>
                    <a:pt x="1340" y="1"/>
                  </a:moveTo>
                  <a:cubicBezTo>
                    <a:pt x="1627" y="735"/>
                    <a:pt x="1785" y="1602"/>
                    <a:pt x="1759" y="2467"/>
                  </a:cubicBezTo>
                  <a:lnTo>
                    <a:pt x="1759" y="2834"/>
                  </a:lnTo>
                  <a:cubicBezTo>
                    <a:pt x="1732" y="3359"/>
                    <a:pt x="1655" y="3831"/>
                    <a:pt x="1522" y="4278"/>
                  </a:cubicBezTo>
                  <a:cubicBezTo>
                    <a:pt x="1365" y="4933"/>
                    <a:pt x="1103" y="5380"/>
                    <a:pt x="868" y="5615"/>
                  </a:cubicBezTo>
                  <a:cubicBezTo>
                    <a:pt x="815" y="5694"/>
                    <a:pt x="763" y="5747"/>
                    <a:pt x="683" y="5799"/>
                  </a:cubicBezTo>
                  <a:cubicBezTo>
                    <a:pt x="473" y="5982"/>
                    <a:pt x="263" y="6192"/>
                    <a:pt x="53" y="6402"/>
                  </a:cubicBezTo>
                  <a:cubicBezTo>
                    <a:pt x="28" y="6429"/>
                    <a:pt x="28" y="6454"/>
                    <a:pt x="1" y="6481"/>
                  </a:cubicBezTo>
                  <a:lnTo>
                    <a:pt x="525" y="6481"/>
                  </a:lnTo>
                  <a:cubicBezTo>
                    <a:pt x="683" y="6297"/>
                    <a:pt x="868" y="6139"/>
                    <a:pt x="1050" y="5982"/>
                  </a:cubicBezTo>
                  <a:cubicBezTo>
                    <a:pt x="1312" y="5747"/>
                    <a:pt x="1575" y="5327"/>
                    <a:pt x="1759" y="4803"/>
                  </a:cubicBezTo>
                  <a:cubicBezTo>
                    <a:pt x="1995" y="4225"/>
                    <a:pt x="2099" y="3543"/>
                    <a:pt x="2152" y="2782"/>
                  </a:cubicBezTo>
                  <a:cubicBezTo>
                    <a:pt x="2179" y="1890"/>
                    <a:pt x="2074" y="973"/>
                    <a:pt x="1785" y="133"/>
                  </a:cubicBezTo>
                  <a:cubicBezTo>
                    <a:pt x="1785" y="81"/>
                    <a:pt x="1759" y="28"/>
                    <a:pt x="1732" y="1"/>
                  </a:cubicBezTo>
                  <a:close/>
                </a:path>
              </a:pathLst>
            </a:custGeom>
            <a:solidFill>
              <a:srgbClr val="CF99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6" name="Google Shape;1305;p33">
              <a:extLst>
                <a:ext uri="{FF2B5EF4-FFF2-40B4-BE49-F238E27FC236}">
                  <a16:creationId xmlns:a16="http://schemas.microsoft.com/office/drawing/2014/main" id="{17D7ECE8-8FB0-C977-BCDD-A8F8B37FF258}"/>
                </a:ext>
              </a:extLst>
            </p:cNvPr>
            <p:cNvSpPr/>
            <p:nvPr/>
          </p:nvSpPr>
          <p:spPr>
            <a:xfrm>
              <a:off x="3675174" y="1670028"/>
              <a:ext cx="242221" cy="364196"/>
            </a:xfrm>
            <a:custGeom>
              <a:avLst/>
              <a:gdLst/>
              <a:ahLst/>
              <a:cxnLst/>
              <a:rect l="l" t="t" r="r" b="b"/>
              <a:pathLst>
                <a:path w="1679" h="3621" extrusionOk="0">
                  <a:moveTo>
                    <a:pt x="0" y="1"/>
                  </a:moveTo>
                  <a:lnTo>
                    <a:pt x="0" y="53"/>
                  </a:lnTo>
                  <a:cubicBezTo>
                    <a:pt x="25" y="578"/>
                    <a:pt x="105" y="1077"/>
                    <a:pt x="235" y="1497"/>
                  </a:cubicBezTo>
                  <a:cubicBezTo>
                    <a:pt x="105" y="1077"/>
                    <a:pt x="25" y="578"/>
                    <a:pt x="0" y="1"/>
                  </a:cubicBezTo>
                  <a:close/>
                  <a:moveTo>
                    <a:pt x="892" y="2834"/>
                  </a:moveTo>
                  <a:lnTo>
                    <a:pt x="892" y="2834"/>
                  </a:lnTo>
                  <a:cubicBezTo>
                    <a:pt x="944" y="2913"/>
                    <a:pt x="997" y="2966"/>
                    <a:pt x="1075" y="3018"/>
                  </a:cubicBezTo>
                  <a:cubicBezTo>
                    <a:pt x="1284" y="3201"/>
                    <a:pt x="1494" y="3411"/>
                    <a:pt x="1679" y="3621"/>
                  </a:cubicBezTo>
                  <a:cubicBezTo>
                    <a:pt x="1469" y="3358"/>
                    <a:pt x="1232" y="3123"/>
                    <a:pt x="970" y="2913"/>
                  </a:cubicBezTo>
                  <a:lnTo>
                    <a:pt x="892" y="2834"/>
                  </a:lnTo>
                  <a:close/>
                </a:path>
              </a:pathLst>
            </a:custGeom>
            <a:solidFill>
              <a:srgbClr val="E4E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7" name="Google Shape;1306;p33">
              <a:extLst>
                <a:ext uri="{FF2B5EF4-FFF2-40B4-BE49-F238E27FC236}">
                  <a16:creationId xmlns:a16="http://schemas.microsoft.com/office/drawing/2014/main" id="{85C55C77-9B71-C4FF-4CF8-92B1A3C32BF1}"/>
                </a:ext>
              </a:extLst>
            </p:cNvPr>
            <p:cNvSpPr/>
            <p:nvPr/>
          </p:nvSpPr>
          <p:spPr>
            <a:xfrm>
              <a:off x="3614582" y="1390312"/>
              <a:ext cx="314065" cy="651952"/>
            </a:xfrm>
            <a:custGeom>
              <a:avLst/>
              <a:gdLst/>
              <a:ahLst/>
              <a:cxnLst/>
              <a:rect l="l" t="t" r="r" b="b"/>
              <a:pathLst>
                <a:path w="2177" h="6482" extrusionOk="0">
                  <a:moveTo>
                    <a:pt x="445" y="1"/>
                  </a:moveTo>
                  <a:cubicBezTo>
                    <a:pt x="420" y="28"/>
                    <a:pt x="393" y="81"/>
                    <a:pt x="393" y="133"/>
                  </a:cubicBezTo>
                  <a:cubicBezTo>
                    <a:pt x="105" y="973"/>
                    <a:pt x="0" y="1890"/>
                    <a:pt x="26" y="2782"/>
                  </a:cubicBezTo>
                  <a:cubicBezTo>
                    <a:pt x="53" y="3543"/>
                    <a:pt x="183" y="4225"/>
                    <a:pt x="393" y="4803"/>
                  </a:cubicBezTo>
                  <a:cubicBezTo>
                    <a:pt x="603" y="5327"/>
                    <a:pt x="865" y="5747"/>
                    <a:pt x="1127" y="5982"/>
                  </a:cubicBezTo>
                  <a:cubicBezTo>
                    <a:pt x="1312" y="6139"/>
                    <a:pt x="1495" y="6297"/>
                    <a:pt x="1652" y="6481"/>
                  </a:cubicBezTo>
                  <a:lnTo>
                    <a:pt x="2177" y="6481"/>
                  </a:lnTo>
                  <a:lnTo>
                    <a:pt x="2099" y="6402"/>
                  </a:lnTo>
                  <a:cubicBezTo>
                    <a:pt x="1914" y="6192"/>
                    <a:pt x="1704" y="5982"/>
                    <a:pt x="1495" y="5799"/>
                  </a:cubicBezTo>
                  <a:cubicBezTo>
                    <a:pt x="1417" y="5747"/>
                    <a:pt x="1364" y="5694"/>
                    <a:pt x="1312" y="5615"/>
                  </a:cubicBezTo>
                  <a:cubicBezTo>
                    <a:pt x="1075" y="5380"/>
                    <a:pt x="813" y="4933"/>
                    <a:pt x="655" y="4278"/>
                  </a:cubicBezTo>
                  <a:cubicBezTo>
                    <a:pt x="525" y="3858"/>
                    <a:pt x="445" y="3359"/>
                    <a:pt x="420" y="2834"/>
                  </a:cubicBezTo>
                  <a:lnTo>
                    <a:pt x="420" y="2494"/>
                  </a:lnTo>
                  <a:cubicBezTo>
                    <a:pt x="393" y="1602"/>
                    <a:pt x="550" y="735"/>
                    <a:pt x="840" y="1"/>
                  </a:cubicBezTo>
                  <a:close/>
                </a:path>
              </a:pathLst>
            </a:custGeom>
            <a:solidFill>
              <a:srgbClr val="0D1B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8" name="Google Shape;1307;p33">
              <a:extLst>
                <a:ext uri="{FF2B5EF4-FFF2-40B4-BE49-F238E27FC236}">
                  <a16:creationId xmlns:a16="http://schemas.microsoft.com/office/drawing/2014/main" id="{041A9747-7B58-55BD-A242-5DFF8B04710B}"/>
                </a:ext>
              </a:extLst>
            </p:cNvPr>
            <p:cNvSpPr/>
            <p:nvPr/>
          </p:nvSpPr>
          <p:spPr>
            <a:xfrm>
              <a:off x="4647525" y="2150201"/>
              <a:ext cx="518777" cy="353736"/>
            </a:xfrm>
            <a:custGeom>
              <a:avLst/>
              <a:gdLst/>
              <a:ahLst/>
              <a:cxnLst/>
              <a:rect l="l" t="t" r="r" b="b"/>
              <a:pathLst>
                <a:path w="3596" h="3517" extrusionOk="0">
                  <a:moveTo>
                    <a:pt x="3149" y="1"/>
                  </a:moveTo>
                  <a:cubicBezTo>
                    <a:pt x="2494" y="1103"/>
                    <a:pt x="2232" y="2232"/>
                    <a:pt x="2047" y="3124"/>
                  </a:cubicBezTo>
                  <a:lnTo>
                    <a:pt x="1" y="3124"/>
                  </a:lnTo>
                  <a:lnTo>
                    <a:pt x="1" y="3516"/>
                  </a:lnTo>
                  <a:lnTo>
                    <a:pt x="2362" y="3516"/>
                  </a:lnTo>
                  <a:lnTo>
                    <a:pt x="2414" y="3201"/>
                  </a:lnTo>
                  <a:cubicBezTo>
                    <a:pt x="2572" y="2467"/>
                    <a:pt x="2756" y="1680"/>
                    <a:pt x="3149" y="868"/>
                  </a:cubicBezTo>
                  <a:cubicBezTo>
                    <a:pt x="3281" y="553"/>
                    <a:pt x="3438" y="263"/>
                    <a:pt x="3596" y="1"/>
                  </a:cubicBezTo>
                  <a:close/>
                </a:path>
              </a:pathLst>
            </a:custGeom>
            <a:solidFill>
              <a:srgbClr val="D4B3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9" name="Google Shape;1308;p33">
              <a:extLst>
                <a:ext uri="{FF2B5EF4-FFF2-40B4-BE49-F238E27FC236}">
                  <a16:creationId xmlns:a16="http://schemas.microsoft.com/office/drawing/2014/main" id="{57BDBC8D-631B-9028-B126-9A76B45CD019}"/>
                </a:ext>
              </a:extLst>
            </p:cNvPr>
            <p:cNvSpPr/>
            <p:nvPr/>
          </p:nvSpPr>
          <p:spPr>
            <a:xfrm>
              <a:off x="3973948" y="2150201"/>
              <a:ext cx="518777" cy="353736"/>
            </a:xfrm>
            <a:custGeom>
              <a:avLst/>
              <a:gdLst/>
              <a:ahLst/>
              <a:cxnLst/>
              <a:rect l="l" t="t" r="r" b="b"/>
              <a:pathLst>
                <a:path w="3596" h="3517" extrusionOk="0">
                  <a:moveTo>
                    <a:pt x="0" y="1"/>
                  </a:moveTo>
                  <a:cubicBezTo>
                    <a:pt x="185" y="263"/>
                    <a:pt x="343" y="553"/>
                    <a:pt x="473" y="868"/>
                  </a:cubicBezTo>
                  <a:cubicBezTo>
                    <a:pt x="840" y="1680"/>
                    <a:pt x="1050" y="2467"/>
                    <a:pt x="1182" y="3201"/>
                  </a:cubicBezTo>
                  <a:lnTo>
                    <a:pt x="1260" y="3516"/>
                  </a:lnTo>
                  <a:lnTo>
                    <a:pt x="3595" y="3516"/>
                  </a:lnTo>
                  <a:lnTo>
                    <a:pt x="3595" y="3124"/>
                  </a:lnTo>
                  <a:lnTo>
                    <a:pt x="1574" y="3124"/>
                  </a:lnTo>
                  <a:cubicBezTo>
                    <a:pt x="1392" y="2232"/>
                    <a:pt x="1102" y="1103"/>
                    <a:pt x="473" y="1"/>
                  </a:cubicBezTo>
                  <a:close/>
                </a:path>
              </a:pathLst>
            </a:custGeom>
            <a:solidFill>
              <a:srgbClr val="90AA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0" name="Google Shape;1309;p33">
              <a:extLst>
                <a:ext uri="{FF2B5EF4-FFF2-40B4-BE49-F238E27FC236}">
                  <a16:creationId xmlns:a16="http://schemas.microsoft.com/office/drawing/2014/main" id="{49241902-6814-AE11-0990-2F0976BC6AEC}"/>
                </a:ext>
              </a:extLst>
            </p:cNvPr>
            <p:cNvSpPr/>
            <p:nvPr/>
          </p:nvSpPr>
          <p:spPr>
            <a:xfrm>
              <a:off x="3852765" y="2042177"/>
              <a:ext cx="1438321" cy="108122"/>
            </a:xfrm>
            <a:custGeom>
              <a:avLst/>
              <a:gdLst/>
              <a:ahLst/>
              <a:cxnLst/>
              <a:rect l="l" t="t" r="r" b="b"/>
              <a:pathLst>
                <a:path w="9970" h="1075" extrusionOk="0">
                  <a:moveTo>
                    <a:pt x="1" y="0"/>
                  </a:moveTo>
                  <a:cubicBezTo>
                    <a:pt x="316" y="315"/>
                    <a:pt x="605" y="683"/>
                    <a:pt x="840" y="1075"/>
                  </a:cubicBezTo>
                  <a:lnTo>
                    <a:pt x="1313" y="1075"/>
                  </a:lnTo>
                  <a:cubicBezTo>
                    <a:pt x="1078" y="708"/>
                    <a:pt x="840" y="340"/>
                    <a:pt x="526" y="0"/>
                  </a:cubicBezTo>
                  <a:close/>
                  <a:moveTo>
                    <a:pt x="9445" y="0"/>
                  </a:moveTo>
                  <a:cubicBezTo>
                    <a:pt x="9130" y="340"/>
                    <a:pt x="8868" y="708"/>
                    <a:pt x="8658" y="1075"/>
                  </a:cubicBezTo>
                  <a:lnTo>
                    <a:pt x="9105" y="1075"/>
                  </a:lnTo>
                  <a:cubicBezTo>
                    <a:pt x="9367" y="683"/>
                    <a:pt x="9630" y="315"/>
                    <a:pt x="9969" y="0"/>
                  </a:cubicBezTo>
                  <a:close/>
                </a:path>
              </a:pathLst>
            </a:custGeom>
            <a:solidFill>
              <a:srgbClr val="E4E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1" name="Google Shape;1310;p33">
              <a:extLst>
                <a:ext uri="{FF2B5EF4-FFF2-40B4-BE49-F238E27FC236}">
                  <a16:creationId xmlns:a16="http://schemas.microsoft.com/office/drawing/2014/main" id="{B12C220B-4167-C12E-8A5C-573DC2296CD7}"/>
                </a:ext>
              </a:extLst>
            </p:cNvPr>
            <p:cNvSpPr/>
            <p:nvPr/>
          </p:nvSpPr>
          <p:spPr>
            <a:xfrm>
              <a:off x="4492584" y="2464315"/>
              <a:ext cx="155085" cy="39628"/>
            </a:xfrm>
            <a:custGeom>
              <a:avLst/>
              <a:gdLst/>
              <a:ahLst/>
              <a:cxnLst/>
              <a:rect l="l" t="t" r="r" b="b"/>
              <a:pathLst>
                <a:path w="1075" h="394" extrusionOk="0">
                  <a:moveTo>
                    <a:pt x="0" y="1"/>
                  </a:moveTo>
                  <a:lnTo>
                    <a:pt x="0" y="393"/>
                  </a:lnTo>
                  <a:lnTo>
                    <a:pt x="1075" y="393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E4E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2" name="Google Shape;1311;p33">
              <a:extLst>
                <a:ext uri="{FF2B5EF4-FFF2-40B4-BE49-F238E27FC236}">
                  <a16:creationId xmlns:a16="http://schemas.microsoft.com/office/drawing/2014/main" id="{771BD1F0-62BB-6705-085C-D9AAB9F2BCCA}"/>
                </a:ext>
              </a:extLst>
            </p:cNvPr>
            <p:cNvSpPr/>
            <p:nvPr/>
          </p:nvSpPr>
          <p:spPr>
            <a:xfrm>
              <a:off x="3678781" y="1282288"/>
              <a:ext cx="1786433" cy="108122"/>
            </a:xfrm>
            <a:custGeom>
              <a:avLst/>
              <a:gdLst/>
              <a:ahLst/>
              <a:cxnLst/>
              <a:rect l="l" t="t" r="r" b="b"/>
              <a:pathLst>
                <a:path w="12383" h="1075" extrusionOk="0">
                  <a:moveTo>
                    <a:pt x="500" y="0"/>
                  </a:moveTo>
                  <a:cubicBezTo>
                    <a:pt x="290" y="315"/>
                    <a:pt x="132" y="682"/>
                    <a:pt x="0" y="1075"/>
                  </a:cubicBezTo>
                  <a:lnTo>
                    <a:pt x="395" y="1075"/>
                  </a:lnTo>
                  <a:cubicBezTo>
                    <a:pt x="552" y="682"/>
                    <a:pt x="735" y="315"/>
                    <a:pt x="945" y="0"/>
                  </a:cubicBezTo>
                  <a:close/>
                  <a:moveTo>
                    <a:pt x="11413" y="0"/>
                  </a:moveTo>
                  <a:cubicBezTo>
                    <a:pt x="11648" y="315"/>
                    <a:pt x="11832" y="682"/>
                    <a:pt x="11990" y="1075"/>
                  </a:cubicBezTo>
                  <a:lnTo>
                    <a:pt x="12382" y="1075"/>
                  </a:lnTo>
                  <a:cubicBezTo>
                    <a:pt x="12252" y="682"/>
                    <a:pt x="12067" y="315"/>
                    <a:pt x="11885" y="0"/>
                  </a:cubicBezTo>
                  <a:close/>
                </a:path>
              </a:pathLst>
            </a:custGeom>
            <a:solidFill>
              <a:srgbClr val="E4E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3" name="Google Shape;1312;p33">
              <a:extLst>
                <a:ext uri="{FF2B5EF4-FFF2-40B4-BE49-F238E27FC236}">
                  <a16:creationId xmlns:a16="http://schemas.microsoft.com/office/drawing/2014/main" id="{308D15EA-27D0-B6EC-831F-AB92AAC92C8F}"/>
                </a:ext>
              </a:extLst>
            </p:cNvPr>
            <p:cNvSpPr/>
            <p:nvPr/>
          </p:nvSpPr>
          <p:spPr>
            <a:xfrm>
              <a:off x="3879455" y="2783459"/>
              <a:ext cx="1396485" cy="174303"/>
            </a:xfrm>
            <a:custGeom>
              <a:avLst/>
              <a:gdLst/>
              <a:ahLst/>
              <a:cxnLst/>
              <a:rect l="l" t="t" r="r" b="b"/>
              <a:pathLst>
                <a:path w="9680" h="1733" extrusionOk="0">
                  <a:moveTo>
                    <a:pt x="945" y="1"/>
                  </a:moveTo>
                  <a:cubicBezTo>
                    <a:pt x="420" y="1"/>
                    <a:pt x="1" y="368"/>
                    <a:pt x="1" y="840"/>
                  </a:cubicBezTo>
                  <a:lnTo>
                    <a:pt x="1" y="893"/>
                  </a:lnTo>
                  <a:cubicBezTo>
                    <a:pt x="1" y="1365"/>
                    <a:pt x="420" y="1732"/>
                    <a:pt x="945" y="1732"/>
                  </a:cubicBezTo>
                  <a:lnTo>
                    <a:pt x="8735" y="1732"/>
                  </a:lnTo>
                  <a:cubicBezTo>
                    <a:pt x="9260" y="1732"/>
                    <a:pt x="9680" y="1365"/>
                    <a:pt x="9680" y="893"/>
                  </a:cubicBezTo>
                  <a:lnTo>
                    <a:pt x="9680" y="840"/>
                  </a:lnTo>
                  <a:cubicBezTo>
                    <a:pt x="9680" y="368"/>
                    <a:pt x="9260" y="1"/>
                    <a:pt x="87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4" name="Google Shape;1313;p33">
              <a:extLst>
                <a:ext uri="{FF2B5EF4-FFF2-40B4-BE49-F238E27FC236}">
                  <a16:creationId xmlns:a16="http://schemas.microsoft.com/office/drawing/2014/main" id="{281057C6-24F3-237E-070E-9C15119DB04B}"/>
                </a:ext>
              </a:extLst>
            </p:cNvPr>
            <p:cNvSpPr/>
            <p:nvPr/>
          </p:nvSpPr>
          <p:spPr>
            <a:xfrm>
              <a:off x="3879455" y="2949820"/>
              <a:ext cx="1396485" cy="176817"/>
            </a:xfrm>
            <a:custGeom>
              <a:avLst/>
              <a:gdLst/>
              <a:ahLst/>
              <a:cxnLst/>
              <a:rect l="l" t="t" r="r" b="b"/>
              <a:pathLst>
                <a:path w="9680" h="1758" extrusionOk="0">
                  <a:moveTo>
                    <a:pt x="945" y="1"/>
                  </a:moveTo>
                  <a:cubicBezTo>
                    <a:pt x="420" y="1"/>
                    <a:pt x="1" y="393"/>
                    <a:pt x="1" y="865"/>
                  </a:cubicBezTo>
                  <a:lnTo>
                    <a:pt x="1" y="892"/>
                  </a:lnTo>
                  <a:cubicBezTo>
                    <a:pt x="1" y="1365"/>
                    <a:pt x="420" y="1757"/>
                    <a:pt x="945" y="1757"/>
                  </a:cubicBezTo>
                  <a:lnTo>
                    <a:pt x="8735" y="1757"/>
                  </a:lnTo>
                  <a:cubicBezTo>
                    <a:pt x="9260" y="1757"/>
                    <a:pt x="9680" y="1365"/>
                    <a:pt x="9680" y="892"/>
                  </a:cubicBezTo>
                  <a:lnTo>
                    <a:pt x="9680" y="865"/>
                  </a:lnTo>
                  <a:cubicBezTo>
                    <a:pt x="9680" y="393"/>
                    <a:pt x="9260" y="1"/>
                    <a:pt x="8735" y="1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5" name="Google Shape;1314;p33">
              <a:extLst>
                <a:ext uri="{FF2B5EF4-FFF2-40B4-BE49-F238E27FC236}">
                  <a16:creationId xmlns:a16="http://schemas.microsoft.com/office/drawing/2014/main" id="{85275B02-39BB-1951-4A27-EFB3A1F9CDE1}"/>
                </a:ext>
              </a:extLst>
            </p:cNvPr>
            <p:cNvSpPr/>
            <p:nvPr/>
          </p:nvSpPr>
          <p:spPr>
            <a:xfrm>
              <a:off x="4049688" y="3121210"/>
              <a:ext cx="1052124" cy="177019"/>
            </a:xfrm>
            <a:custGeom>
              <a:avLst/>
              <a:gdLst/>
              <a:ahLst/>
              <a:cxnLst/>
              <a:rect l="l" t="t" r="r" b="b"/>
              <a:pathLst>
                <a:path w="7293" h="1760" extrusionOk="0">
                  <a:moveTo>
                    <a:pt x="944" y="1"/>
                  </a:moveTo>
                  <a:cubicBezTo>
                    <a:pt x="420" y="1"/>
                    <a:pt x="0" y="395"/>
                    <a:pt x="0" y="867"/>
                  </a:cubicBezTo>
                  <a:lnTo>
                    <a:pt x="0" y="893"/>
                  </a:lnTo>
                  <a:cubicBezTo>
                    <a:pt x="0" y="1365"/>
                    <a:pt x="420" y="1759"/>
                    <a:pt x="944" y="1759"/>
                  </a:cubicBezTo>
                  <a:lnTo>
                    <a:pt x="6376" y="1759"/>
                  </a:lnTo>
                  <a:cubicBezTo>
                    <a:pt x="6873" y="1759"/>
                    <a:pt x="7293" y="1365"/>
                    <a:pt x="7293" y="893"/>
                  </a:cubicBezTo>
                  <a:lnTo>
                    <a:pt x="7293" y="867"/>
                  </a:lnTo>
                  <a:cubicBezTo>
                    <a:pt x="7293" y="395"/>
                    <a:pt x="6873" y="1"/>
                    <a:pt x="6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246" name="Google Shape;1315;p33">
              <a:extLst>
                <a:ext uri="{FF2B5EF4-FFF2-40B4-BE49-F238E27FC236}">
                  <a16:creationId xmlns:a16="http://schemas.microsoft.com/office/drawing/2014/main" id="{ED2D77E7-AB93-80C1-9EC3-B8A16BEFE106}"/>
                </a:ext>
              </a:extLst>
            </p:cNvPr>
            <p:cNvCxnSpPr>
              <a:cxnSpLocks/>
            </p:cNvCxnSpPr>
            <p:nvPr/>
          </p:nvCxnSpPr>
          <p:spPr>
            <a:xfrm>
              <a:off x="2528949" y="915449"/>
              <a:ext cx="1581544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8247" name="Google Shape;1316;p33">
              <a:extLst>
                <a:ext uri="{FF2B5EF4-FFF2-40B4-BE49-F238E27FC236}">
                  <a16:creationId xmlns:a16="http://schemas.microsoft.com/office/drawing/2014/main" id="{EF87ED3F-F618-F48F-8BB3-80384DE3B941}"/>
                </a:ext>
              </a:extLst>
            </p:cNvPr>
            <p:cNvCxnSpPr>
              <a:cxnSpLocks/>
            </p:cNvCxnSpPr>
            <p:nvPr/>
          </p:nvCxnSpPr>
          <p:spPr>
            <a:xfrm>
              <a:off x="2480052" y="1770260"/>
              <a:ext cx="1089767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8248" name="Google Shape;1317;p33">
              <a:extLst>
                <a:ext uri="{FF2B5EF4-FFF2-40B4-BE49-F238E27FC236}">
                  <a16:creationId xmlns:a16="http://schemas.microsoft.com/office/drawing/2014/main" id="{5B62DEC1-06B3-21F1-046A-45CE97C6DD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0052" y="2649721"/>
              <a:ext cx="1827148" cy="7488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8249" name="Google Shape;1318;p33">
              <a:extLst>
                <a:ext uri="{FF2B5EF4-FFF2-40B4-BE49-F238E27FC236}">
                  <a16:creationId xmlns:a16="http://schemas.microsoft.com/office/drawing/2014/main" id="{6FF49820-E5CA-F172-E2E5-FEF0EDEE2F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7650" y="915449"/>
              <a:ext cx="1697077" cy="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8250" name="Google Shape;1319;p33">
              <a:extLst>
                <a:ext uri="{FF2B5EF4-FFF2-40B4-BE49-F238E27FC236}">
                  <a16:creationId xmlns:a16="http://schemas.microsoft.com/office/drawing/2014/main" id="{405689A9-805E-7A31-5DD9-A3867F3C15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8851" y="1761284"/>
              <a:ext cx="1005877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oval" w="med" len="med"/>
              <a:tailEnd type="none" w="med" len="med"/>
            </a:ln>
          </p:spPr>
        </p:cxnSp>
        <p:cxnSp>
          <p:nvCxnSpPr>
            <p:cNvPr id="8251" name="Google Shape;1320;p33">
              <a:extLst>
                <a:ext uri="{FF2B5EF4-FFF2-40B4-BE49-F238E27FC236}">
                  <a16:creationId xmlns:a16="http://schemas.microsoft.com/office/drawing/2014/main" id="{DDF3577E-40B3-86A7-6C9C-1D15278BA7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5213" y="2544082"/>
              <a:ext cx="988351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oval" w="med" len="med"/>
              <a:tailEnd type="none" w="med" len="med"/>
            </a:ln>
          </p:spPr>
        </p:cxnSp>
      </p:grpSp>
      <p:sp>
        <p:nvSpPr>
          <p:cNvPr id="8252" name="TextBox 8251">
            <a:extLst>
              <a:ext uri="{FF2B5EF4-FFF2-40B4-BE49-F238E27FC236}">
                <a16:creationId xmlns:a16="http://schemas.microsoft.com/office/drawing/2014/main" id="{179DF665-927B-4AB3-BCEB-FF9B22AE0FC6}"/>
              </a:ext>
            </a:extLst>
          </p:cNvPr>
          <p:cNvSpPr txBox="1"/>
          <p:nvPr/>
        </p:nvSpPr>
        <p:spPr>
          <a:xfrm>
            <a:off x="7479109" y="792403"/>
            <a:ext cx="3072482" cy="367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Key Results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8253" name="Picture 8252">
            <a:extLst>
              <a:ext uri="{FF2B5EF4-FFF2-40B4-BE49-F238E27FC236}">
                <a16:creationId xmlns:a16="http://schemas.microsoft.com/office/drawing/2014/main" id="{5D791813-8006-3075-DEF8-2B385B5724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8" t="3957" r="8365"/>
          <a:stretch>
            <a:fillRect/>
          </a:stretch>
        </p:blipFill>
        <p:spPr>
          <a:xfrm>
            <a:off x="640912" y="3801336"/>
            <a:ext cx="3297668" cy="2844171"/>
          </a:xfrm>
          <a:prstGeom prst="rect">
            <a:avLst/>
          </a:prstGeom>
        </p:spPr>
      </p:pic>
      <p:sp>
        <p:nvSpPr>
          <p:cNvPr id="8255" name="TextBox 8254">
            <a:extLst>
              <a:ext uri="{FF2B5EF4-FFF2-40B4-BE49-F238E27FC236}">
                <a16:creationId xmlns:a16="http://schemas.microsoft.com/office/drawing/2014/main" id="{5FB66709-7D1D-25C0-EFE7-5DD378526482}"/>
              </a:ext>
            </a:extLst>
          </p:cNvPr>
          <p:cNvSpPr txBox="1"/>
          <p:nvPr/>
        </p:nvSpPr>
        <p:spPr>
          <a:xfrm>
            <a:off x="1827300" y="3422943"/>
            <a:ext cx="8081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rial Black" panose="020B0A04020102020204" pitchFamily="34" charset="0"/>
              </a:rPr>
              <a:t> Performance Metrics — Optimized CNN (Proposed Model)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8257" name="TextBox 8256">
            <a:extLst>
              <a:ext uri="{FF2B5EF4-FFF2-40B4-BE49-F238E27FC236}">
                <a16:creationId xmlns:a16="http://schemas.microsoft.com/office/drawing/2014/main" id="{AA80139D-38B0-F549-1D21-6435E0D6A6B2}"/>
              </a:ext>
            </a:extLst>
          </p:cNvPr>
          <p:cNvSpPr txBox="1"/>
          <p:nvPr/>
        </p:nvSpPr>
        <p:spPr>
          <a:xfrm>
            <a:off x="640912" y="6573048"/>
            <a:ext cx="32976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Confusion Matrix of Model Performance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258" name="Picture 8257">
            <a:extLst>
              <a:ext uri="{FF2B5EF4-FFF2-40B4-BE49-F238E27FC236}">
                <a16:creationId xmlns:a16="http://schemas.microsoft.com/office/drawing/2014/main" id="{EBC79188-E5F2-77C5-0824-AD0E0F4C25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881" y="3815185"/>
            <a:ext cx="3697302" cy="2464868"/>
          </a:xfrm>
          <a:prstGeom prst="rect">
            <a:avLst/>
          </a:prstGeom>
        </p:spPr>
      </p:pic>
      <p:sp>
        <p:nvSpPr>
          <p:cNvPr id="8260" name="TextBox 8259">
            <a:extLst>
              <a:ext uri="{FF2B5EF4-FFF2-40B4-BE49-F238E27FC236}">
                <a16:creationId xmlns:a16="http://schemas.microsoft.com/office/drawing/2014/main" id="{436F0BA5-5453-9C3B-8598-929149C8C964}"/>
              </a:ext>
            </a:extLst>
          </p:cNvPr>
          <p:cNvSpPr txBox="1"/>
          <p:nvPr/>
        </p:nvSpPr>
        <p:spPr>
          <a:xfrm>
            <a:off x="4814847" y="6371774"/>
            <a:ext cx="3341370" cy="339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IN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Training Accuracy Curve of the CNN Model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61" name="TextBox 8260">
            <a:extLst>
              <a:ext uri="{FF2B5EF4-FFF2-40B4-BE49-F238E27FC236}">
                <a16:creationId xmlns:a16="http://schemas.microsoft.com/office/drawing/2014/main" id="{58DC9A35-F8B4-26AE-79D2-480334F0C39D}"/>
              </a:ext>
            </a:extLst>
          </p:cNvPr>
          <p:cNvSpPr txBox="1"/>
          <p:nvPr/>
        </p:nvSpPr>
        <p:spPr>
          <a:xfrm>
            <a:off x="8730188" y="4536244"/>
            <a:ext cx="3052296" cy="822305"/>
          </a:xfrm>
          <a:prstGeom prst="flowChartTerminator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  <a:hlinkClick r:id="rId9"/>
              </a:rPr>
              <a:t>DEMO LINK</a:t>
            </a:r>
            <a:endParaRPr lang="en-IN" sz="3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7200" y="180000"/>
            <a:ext cx="11277600" cy="57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5400" b="1" dirty="0">
                <a:solidFill>
                  <a:srgbClr val="000000"/>
                </a:solidFill>
                <a:latin typeface="Algerian" panose="04020705040A02060702" pitchFamily="82" charset="0"/>
              </a:rPr>
              <a:t>MODEL COMPARISON</a:t>
            </a:r>
          </a:p>
        </p:txBody>
      </p:sp>
      <p:sp>
        <p:nvSpPr>
          <p:cNvPr id="3" name="TB3"/>
          <p:cNvSpPr txBox="1"/>
          <p:nvPr/>
        </p:nvSpPr>
        <p:spPr>
          <a:xfrm>
            <a:off x="457200" y="1145432"/>
            <a:ext cx="1127760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750" b="1" dirty="0">
                <a:solidFill>
                  <a:srgbClr val="1F4E79"/>
                </a:solidFill>
                <a:latin typeface="Arial Black" panose="020B0A04020102020204" pitchFamily="34" charset="0"/>
              </a:rPr>
              <a:t>Four deep learning architectures evaluated on the same solar magnetogram dataset</a:t>
            </a:r>
          </a:p>
        </p:txBody>
      </p:sp>
      <p:sp>
        <p:nvSpPr>
          <p:cNvPr id="7" name="Google Shape;148;p18">
            <a:extLst>
              <a:ext uri="{FF2B5EF4-FFF2-40B4-BE49-F238E27FC236}">
                <a16:creationId xmlns:a16="http://schemas.microsoft.com/office/drawing/2014/main" id="{C7D5900B-6704-1383-083C-884FFF8F155B}"/>
              </a:ext>
            </a:extLst>
          </p:cNvPr>
          <p:cNvSpPr/>
          <p:nvPr/>
        </p:nvSpPr>
        <p:spPr>
          <a:xfrm>
            <a:off x="2537941" y="2491788"/>
            <a:ext cx="1137771" cy="510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0.85</a:t>
            </a:r>
            <a:endParaRPr dirty="0"/>
          </a:p>
        </p:txBody>
      </p:sp>
      <p:sp>
        <p:nvSpPr>
          <p:cNvPr id="8" name="Google Shape;149;p18">
            <a:extLst>
              <a:ext uri="{FF2B5EF4-FFF2-40B4-BE49-F238E27FC236}">
                <a16:creationId xmlns:a16="http://schemas.microsoft.com/office/drawing/2014/main" id="{0CBD939C-A6F0-DE54-1E21-DA73A1BF29D3}"/>
              </a:ext>
            </a:extLst>
          </p:cNvPr>
          <p:cNvSpPr/>
          <p:nvPr/>
        </p:nvSpPr>
        <p:spPr>
          <a:xfrm>
            <a:off x="2538018" y="1840971"/>
            <a:ext cx="1137922" cy="584176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</a:rPr>
              <a:t>Accuracy</a:t>
            </a:r>
          </a:p>
        </p:txBody>
      </p:sp>
      <p:sp>
        <p:nvSpPr>
          <p:cNvPr id="9" name="Google Shape;150;p18">
            <a:extLst>
              <a:ext uri="{FF2B5EF4-FFF2-40B4-BE49-F238E27FC236}">
                <a16:creationId xmlns:a16="http://schemas.microsoft.com/office/drawing/2014/main" id="{84DA20BE-8578-01EB-EA49-307C39063F87}"/>
              </a:ext>
            </a:extLst>
          </p:cNvPr>
          <p:cNvSpPr/>
          <p:nvPr/>
        </p:nvSpPr>
        <p:spPr>
          <a:xfrm>
            <a:off x="2537940" y="3082172"/>
            <a:ext cx="1137841" cy="5108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0.88</a:t>
            </a:r>
            <a:endParaRPr dirty="0"/>
          </a:p>
        </p:txBody>
      </p:sp>
      <p:sp>
        <p:nvSpPr>
          <p:cNvPr id="10" name="Google Shape;151;p18">
            <a:extLst>
              <a:ext uri="{FF2B5EF4-FFF2-40B4-BE49-F238E27FC236}">
                <a16:creationId xmlns:a16="http://schemas.microsoft.com/office/drawing/2014/main" id="{01D53846-AB40-2016-027B-4F85A714F778}"/>
              </a:ext>
            </a:extLst>
          </p:cNvPr>
          <p:cNvSpPr/>
          <p:nvPr/>
        </p:nvSpPr>
        <p:spPr>
          <a:xfrm>
            <a:off x="2537940" y="3659788"/>
            <a:ext cx="1137841" cy="5108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0.89</a:t>
            </a:r>
            <a:endParaRPr dirty="0"/>
          </a:p>
        </p:txBody>
      </p:sp>
      <p:sp>
        <p:nvSpPr>
          <p:cNvPr id="11" name="Google Shape;153;p18">
            <a:extLst>
              <a:ext uri="{FF2B5EF4-FFF2-40B4-BE49-F238E27FC236}">
                <a16:creationId xmlns:a16="http://schemas.microsoft.com/office/drawing/2014/main" id="{116F9304-D1EA-7EB4-77CC-659A2EB3E8FC}"/>
              </a:ext>
            </a:extLst>
          </p:cNvPr>
          <p:cNvSpPr/>
          <p:nvPr/>
        </p:nvSpPr>
        <p:spPr>
          <a:xfrm>
            <a:off x="2586588" y="2536381"/>
            <a:ext cx="324228" cy="2919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55;p18">
            <a:extLst>
              <a:ext uri="{FF2B5EF4-FFF2-40B4-BE49-F238E27FC236}">
                <a16:creationId xmlns:a16="http://schemas.microsoft.com/office/drawing/2014/main" id="{CA9560A1-6FB9-B0EB-F792-CB36DC3F555B}"/>
              </a:ext>
            </a:extLst>
          </p:cNvPr>
          <p:cNvSpPr/>
          <p:nvPr/>
        </p:nvSpPr>
        <p:spPr>
          <a:xfrm>
            <a:off x="2586588" y="3162349"/>
            <a:ext cx="324228" cy="2919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57;p18">
            <a:extLst>
              <a:ext uri="{FF2B5EF4-FFF2-40B4-BE49-F238E27FC236}">
                <a16:creationId xmlns:a16="http://schemas.microsoft.com/office/drawing/2014/main" id="{313CC6C4-E429-1AB3-44E6-43744DF3A3EA}"/>
              </a:ext>
            </a:extLst>
          </p:cNvPr>
          <p:cNvSpPr/>
          <p:nvPr/>
        </p:nvSpPr>
        <p:spPr>
          <a:xfrm>
            <a:off x="2586582" y="3734045"/>
            <a:ext cx="324228" cy="2919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60;p18">
            <a:extLst>
              <a:ext uri="{FF2B5EF4-FFF2-40B4-BE49-F238E27FC236}">
                <a16:creationId xmlns:a16="http://schemas.microsoft.com/office/drawing/2014/main" id="{BC297C6E-AF24-365C-6AC2-70B2FBFF1704}"/>
              </a:ext>
            </a:extLst>
          </p:cNvPr>
          <p:cNvSpPr/>
          <p:nvPr/>
        </p:nvSpPr>
        <p:spPr>
          <a:xfrm>
            <a:off x="3856133" y="2491788"/>
            <a:ext cx="1137985" cy="510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0.83</a:t>
            </a:r>
            <a:endParaRPr dirty="0"/>
          </a:p>
        </p:txBody>
      </p:sp>
      <p:sp>
        <p:nvSpPr>
          <p:cNvPr id="15" name="Google Shape;161;p18">
            <a:extLst>
              <a:ext uri="{FF2B5EF4-FFF2-40B4-BE49-F238E27FC236}">
                <a16:creationId xmlns:a16="http://schemas.microsoft.com/office/drawing/2014/main" id="{889937D2-5DA6-B345-E0CE-EC3BC9DB808E}"/>
              </a:ext>
            </a:extLst>
          </p:cNvPr>
          <p:cNvSpPr/>
          <p:nvPr/>
        </p:nvSpPr>
        <p:spPr>
          <a:xfrm>
            <a:off x="3856134" y="3082173"/>
            <a:ext cx="1137922" cy="510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0.86</a:t>
            </a:r>
            <a:endParaRPr dirty="0"/>
          </a:p>
        </p:txBody>
      </p:sp>
      <p:sp>
        <p:nvSpPr>
          <p:cNvPr id="16" name="Google Shape;162;p18">
            <a:extLst>
              <a:ext uri="{FF2B5EF4-FFF2-40B4-BE49-F238E27FC236}">
                <a16:creationId xmlns:a16="http://schemas.microsoft.com/office/drawing/2014/main" id="{79997105-DEB0-961A-F58F-FF2A847BA723}"/>
              </a:ext>
            </a:extLst>
          </p:cNvPr>
          <p:cNvSpPr/>
          <p:nvPr/>
        </p:nvSpPr>
        <p:spPr>
          <a:xfrm>
            <a:off x="3856134" y="3659789"/>
            <a:ext cx="1137922" cy="510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0.87</a:t>
            </a:r>
            <a:endParaRPr dirty="0"/>
          </a:p>
        </p:txBody>
      </p:sp>
      <p:sp>
        <p:nvSpPr>
          <p:cNvPr id="17" name="Google Shape;163;p18">
            <a:extLst>
              <a:ext uri="{FF2B5EF4-FFF2-40B4-BE49-F238E27FC236}">
                <a16:creationId xmlns:a16="http://schemas.microsoft.com/office/drawing/2014/main" id="{149B9727-50BF-E6E5-8888-F384B91675A2}"/>
              </a:ext>
            </a:extLst>
          </p:cNvPr>
          <p:cNvSpPr/>
          <p:nvPr/>
        </p:nvSpPr>
        <p:spPr>
          <a:xfrm>
            <a:off x="3856211" y="1840971"/>
            <a:ext cx="1137922" cy="584176"/>
          </a:xfrm>
          <a:prstGeom prst="flowChartOffpageConnector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</a:rPr>
              <a:t>Precision</a:t>
            </a:r>
          </a:p>
        </p:txBody>
      </p:sp>
      <p:sp>
        <p:nvSpPr>
          <p:cNvPr id="18" name="Google Shape;165;p18">
            <a:extLst>
              <a:ext uri="{FF2B5EF4-FFF2-40B4-BE49-F238E27FC236}">
                <a16:creationId xmlns:a16="http://schemas.microsoft.com/office/drawing/2014/main" id="{383D5418-9BBE-14C8-9D99-1CC7921668D1}"/>
              </a:ext>
            </a:extLst>
          </p:cNvPr>
          <p:cNvSpPr/>
          <p:nvPr/>
        </p:nvSpPr>
        <p:spPr>
          <a:xfrm>
            <a:off x="3904672" y="2536381"/>
            <a:ext cx="324228" cy="2919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67;p18">
            <a:extLst>
              <a:ext uri="{FF2B5EF4-FFF2-40B4-BE49-F238E27FC236}">
                <a16:creationId xmlns:a16="http://schemas.microsoft.com/office/drawing/2014/main" id="{EA0066ED-E254-9CCD-14DA-622AA14EACF2}"/>
              </a:ext>
            </a:extLst>
          </p:cNvPr>
          <p:cNvSpPr/>
          <p:nvPr/>
        </p:nvSpPr>
        <p:spPr>
          <a:xfrm>
            <a:off x="3904684" y="3149664"/>
            <a:ext cx="324228" cy="2919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169;p18">
            <a:extLst>
              <a:ext uri="{FF2B5EF4-FFF2-40B4-BE49-F238E27FC236}">
                <a16:creationId xmlns:a16="http://schemas.microsoft.com/office/drawing/2014/main" id="{F44A69BC-71EA-D8EA-DDFA-0F5BD4254CF0}"/>
              </a:ext>
            </a:extLst>
          </p:cNvPr>
          <p:cNvSpPr/>
          <p:nvPr/>
        </p:nvSpPr>
        <p:spPr>
          <a:xfrm>
            <a:off x="3904678" y="3727279"/>
            <a:ext cx="324228" cy="2919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72;p18">
            <a:extLst>
              <a:ext uri="{FF2B5EF4-FFF2-40B4-BE49-F238E27FC236}">
                <a16:creationId xmlns:a16="http://schemas.microsoft.com/office/drawing/2014/main" id="{94CED351-5AF5-7A82-34FD-8EDD63B910A0}"/>
              </a:ext>
            </a:extLst>
          </p:cNvPr>
          <p:cNvSpPr/>
          <p:nvPr/>
        </p:nvSpPr>
        <p:spPr>
          <a:xfrm>
            <a:off x="5174327" y="2491788"/>
            <a:ext cx="1137985" cy="510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0.82</a:t>
            </a:r>
            <a:endParaRPr dirty="0"/>
          </a:p>
        </p:txBody>
      </p:sp>
      <p:sp>
        <p:nvSpPr>
          <p:cNvPr id="22" name="Google Shape;173;p18">
            <a:extLst>
              <a:ext uri="{FF2B5EF4-FFF2-40B4-BE49-F238E27FC236}">
                <a16:creationId xmlns:a16="http://schemas.microsoft.com/office/drawing/2014/main" id="{5BC12B8B-DE5A-ACDC-68A0-7E074BBE6731}"/>
              </a:ext>
            </a:extLst>
          </p:cNvPr>
          <p:cNvSpPr/>
          <p:nvPr/>
        </p:nvSpPr>
        <p:spPr>
          <a:xfrm>
            <a:off x="5174328" y="3082173"/>
            <a:ext cx="1137922" cy="510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0.84</a:t>
            </a:r>
            <a:endParaRPr dirty="0"/>
          </a:p>
        </p:txBody>
      </p:sp>
      <p:sp>
        <p:nvSpPr>
          <p:cNvPr id="23" name="Google Shape;174;p18">
            <a:extLst>
              <a:ext uri="{FF2B5EF4-FFF2-40B4-BE49-F238E27FC236}">
                <a16:creationId xmlns:a16="http://schemas.microsoft.com/office/drawing/2014/main" id="{68CF9D3B-57FF-D148-E5A1-7A6F1C60052A}"/>
              </a:ext>
            </a:extLst>
          </p:cNvPr>
          <p:cNvSpPr/>
          <p:nvPr/>
        </p:nvSpPr>
        <p:spPr>
          <a:xfrm>
            <a:off x="5174328" y="3659789"/>
            <a:ext cx="1137922" cy="510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0.86</a:t>
            </a:r>
            <a:endParaRPr dirty="0"/>
          </a:p>
        </p:txBody>
      </p:sp>
      <p:sp>
        <p:nvSpPr>
          <p:cNvPr id="24" name="Google Shape;175;p18">
            <a:extLst>
              <a:ext uri="{FF2B5EF4-FFF2-40B4-BE49-F238E27FC236}">
                <a16:creationId xmlns:a16="http://schemas.microsoft.com/office/drawing/2014/main" id="{ABCDE232-B9B5-ED4E-07E7-BDCA79AAC792}"/>
              </a:ext>
            </a:extLst>
          </p:cNvPr>
          <p:cNvSpPr/>
          <p:nvPr/>
        </p:nvSpPr>
        <p:spPr>
          <a:xfrm>
            <a:off x="5174405" y="1840971"/>
            <a:ext cx="1137922" cy="584176"/>
          </a:xfrm>
          <a:prstGeom prst="flowChartOffpageConnector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b="1" dirty="0">
                <a:solidFill>
                  <a:srgbClr val="FFFFFF"/>
                </a:solidFill>
                <a:latin typeface="Calibri" pitchFamily="34" charset="0"/>
              </a:rPr>
              <a:t>Recall</a:t>
            </a:r>
            <a:endParaRPr dirty="0"/>
          </a:p>
        </p:txBody>
      </p:sp>
      <p:sp>
        <p:nvSpPr>
          <p:cNvPr id="25" name="Google Shape;177;p18">
            <a:extLst>
              <a:ext uri="{FF2B5EF4-FFF2-40B4-BE49-F238E27FC236}">
                <a16:creationId xmlns:a16="http://schemas.microsoft.com/office/drawing/2014/main" id="{836057A1-D4B8-B6C4-D3BB-A261B347B074}"/>
              </a:ext>
            </a:extLst>
          </p:cNvPr>
          <p:cNvSpPr/>
          <p:nvPr/>
        </p:nvSpPr>
        <p:spPr>
          <a:xfrm>
            <a:off x="5223089" y="2536381"/>
            <a:ext cx="324228" cy="2919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79;p18">
            <a:extLst>
              <a:ext uri="{FF2B5EF4-FFF2-40B4-BE49-F238E27FC236}">
                <a16:creationId xmlns:a16="http://schemas.microsoft.com/office/drawing/2014/main" id="{973FA96E-6A70-6C63-4F53-31A5BF6CDA61}"/>
              </a:ext>
            </a:extLst>
          </p:cNvPr>
          <p:cNvSpPr/>
          <p:nvPr/>
        </p:nvSpPr>
        <p:spPr>
          <a:xfrm>
            <a:off x="5223127" y="3149664"/>
            <a:ext cx="324228" cy="2919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80;p18">
            <a:extLst>
              <a:ext uri="{FF2B5EF4-FFF2-40B4-BE49-F238E27FC236}">
                <a16:creationId xmlns:a16="http://schemas.microsoft.com/office/drawing/2014/main" id="{DDE9077A-45B3-D379-5058-2066465D4700}"/>
              </a:ext>
            </a:extLst>
          </p:cNvPr>
          <p:cNvSpPr/>
          <p:nvPr/>
        </p:nvSpPr>
        <p:spPr>
          <a:xfrm>
            <a:off x="5223121" y="3727279"/>
            <a:ext cx="324228" cy="2919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84;p18">
            <a:extLst>
              <a:ext uri="{FF2B5EF4-FFF2-40B4-BE49-F238E27FC236}">
                <a16:creationId xmlns:a16="http://schemas.microsoft.com/office/drawing/2014/main" id="{A4A35A11-C890-6E99-7F97-E1D4C069FE88}"/>
              </a:ext>
            </a:extLst>
          </p:cNvPr>
          <p:cNvSpPr/>
          <p:nvPr/>
        </p:nvSpPr>
        <p:spPr>
          <a:xfrm>
            <a:off x="6492443" y="2486399"/>
            <a:ext cx="1137985" cy="510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0.82</a:t>
            </a:r>
            <a:endParaRPr dirty="0"/>
          </a:p>
        </p:txBody>
      </p:sp>
      <p:sp>
        <p:nvSpPr>
          <p:cNvPr id="29" name="Google Shape;185;p18">
            <a:extLst>
              <a:ext uri="{FF2B5EF4-FFF2-40B4-BE49-F238E27FC236}">
                <a16:creationId xmlns:a16="http://schemas.microsoft.com/office/drawing/2014/main" id="{2AC172A1-F8E7-60D4-6AA6-432E792AF9F0}"/>
              </a:ext>
            </a:extLst>
          </p:cNvPr>
          <p:cNvSpPr/>
          <p:nvPr/>
        </p:nvSpPr>
        <p:spPr>
          <a:xfrm>
            <a:off x="6492444" y="3076784"/>
            <a:ext cx="1137922" cy="510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0.85</a:t>
            </a:r>
            <a:endParaRPr dirty="0"/>
          </a:p>
        </p:txBody>
      </p:sp>
      <p:sp>
        <p:nvSpPr>
          <p:cNvPr id="30" name="Google Shape;186;p18">
            <a:extLst>
              <a:ext uri="{FF2B5EF4-FFF2-40B4-BE49-F238E27FC236}">
                <a16:creationId xmlns:a16="http://schemas.microsoft.com/office/drawing/2014/main" id="{EA313ADB-31EB-7496-85C1-85906433B11B}"/>
              </a:ext>
            </a:extLst>
          </p:cNvPr>
          <p:cNvSpPr/>
          <p:nvPr/>
        </p:nvSpPr>
        <p:spPr>
          <a:xfrm>
            <a:off x="6492444" y="3654400"/>
            <a:ext cx="1137922" cy="510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0.86</a:t>
            </a:r>
            <a:endParaRPr dirty="0"/>
          </a:p>
        </p:txBody>
      </p:sp>
      <p:sp>
        <p:nvSpPr>
          <p:cNvPr id="31" name="Google Shape;187;p18">
            <a:extLst>
              <a:ext uri="{FF2B5EF4-FFF2-40B4-BE49-F238E27FC236}">
                <a16:creationId xmlns:a16="http://schemas.microsoft.com/office/drawing/2014/main" id="{87058C95-9984-03D7-2148-4678BF113CF3}"/>
              </a:ext>
            </a:extLst>
          </p:cNvPr>
          <p:cNvSpPr/>
          <p:nvPr/>
        </p:nvSpPr>
        <p:spPr>
          <a:xfrm>
            <a:off x="6492521" y="1835582"/>
            <a:ext cx="1137922" cy="584176"/>
          </a:xfrm>
          <a:prstGeom prst="flowChartOffpageConnector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b="1" dirty="0">
                <a:solidFill>
                  <a:srgbClr val="FFFFFF"/>
                </a:solidFill>
                <a:latin typeface="Calibri" pitchFamily="34" charset="0"/>
              </a:rPr>
              <a:t>F1-Score</a:t>
            </a:r>
            <a:endParaRPr dirty="0"/>
          </a:p>
        </p:txBody>
      </p:sp>
      <p:sp>
        <p:nvSpPr>
          <p:cNvPr id="32" name="Google Shape;189;p18">
            <a:extLst>
              <a:ext uri="{FF2B5EF4-FFF2-40B4-BE49-F238E27FC236}">
                <a16:creationId xmlns:a16="http://schemas.microsoft.com/office/drawing/2014/main" id="{5930BB27-D8DF-A5FD-C99E-C8353465ECAE}"/>
              </a:ext>
            </a:extLst>
          </p:cNvPr>
          <p:cNvSpPr/>
          <p:nvPr/>
        </p:nvSpPr>
        <p:spPr>
          <a:xfrm>
            <a:off x="6518978" y="2544620"/>
            <a:ext cx="324134" cy="2918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91;p18">
            <a:extLst>
              <a:ext uri="{FF2B5EF4-FFF2-40B4-BE49-F238E27FC236}">
                <a16:creationId xmlns:a16="http://schemas.microsoft.com/office/drawing/2014/main" id="{41DEA00C-8D34-C625-6AF0-7CA7300A2A25}"/>
              </a:ext>
            </a:extLst>
          </p:cNvPr>
          <p:cNvSpPr/>
          <p:nvPr/>
        </p:nvSpPr>
        <p:spPr>
          <a:xfrm>
            <a:off x="6519002" y="3157938"/>
            <a:ext cx="324228" cy="2919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192;p18">
            <a:extLst>
              <a:ext uri="{FF2B5EF4-FFF2-40B4-BE49-F238E27FC236}">
                <a16:creationId xmlns:a16="http://schemas.microsoft.com/office/drawing/2014/main" id="{F3EB10ED-E938-FF91-618E-E8C32256E0AD}"/>
              </a:ext>
            </a:extLst>
          </p:cNvPr>
          <p:cNvSpPr/>
          <p:nvPr/>
        </p:nvSpPr>
        <p:spPr>
          <a:xfrm>
            <a:off x="6518996" y="3735553"/>
            <a:ext cx="324228" cy="2919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196;p18">
            <a:extLst>
              <a:ext uri="{FF2B5EF4-FFF2-40B4-BE49-F238E27FC236}">
                <a16:creationId xmlns:a16="http://schemas.microsoft.com/office/drawing/2014/main" id="{23BE1753-72C2-C114-9FC5-F91ED3EE1DFA}"/>
              </a:ext>
            </a:extLst>
          </p:cNvPr>
          <p:cNvSpPr/>
          <p:nvPr/>
        </p:nvSpPr>
        <p:spPr>
          <a:xfrm>
            <a:off x="137449" y="3103046"/>
            <a:ext cx="2219959" cy="510895"/>
          </a:xfrm>
          <a:prstGeom prst="flowChartTerminato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CNN + LSTM</a:t>
            </a:r>
            <a:endParaRPr dirty="0"/>
          </a:p>
        </p:txBody>
      </p:sp>
      <p:sp>
        <p:nvSpPr>
          <p:cNvPr id="36" name="Google Shape;199;p18">
            <a:extLst>
              <a:ext uri="{FF2B5EF4-FFF2-40B4-BE49-F238E27FC236}">
                <a16:creationId xmlns:a16="http://schemas.microsoft.com/office/drawing/2014/main" id="{325B6E26-6998-C7F5-A447-61C7F1D41453}"/>
              </a:ext>
            </a:extLst>
          </p:cNvPr>
          <p:cNvSpPr/>
          <p:nvPr/>
        </p:nvSpPr>
        <p:spPr>
          <a:xfrm>
            <a:off x="137449" y="3680662"/>
            <a:ext cx="2219960" cy="510895"/>
          </a:xfrm>
          <a:prstGeom prst="flowChartTerminato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Vision Transformer</a:t>
            </a:r>
            <a:endParaRPr dirty="0"/>
          </a:p>
        </p:txBody>
      </p:sp>
      <p:sp>
        <p:nvSpPr>
          <p:cNvPr id="37" name="Google Shape;202;p18">
            <a:extLst>
              <a:ext uri="{FF2B5EF4-FFF2-40B4-BE49-F238E27FC236}">
                <a16:creationId xmlns:a16="http://schemas.microsoft.com/office/drawing/2014/main" id="{E2AFC6CA-1526-8F47-67EC-4003021FCFEC}"/>
              </a:ext>
            </a:extLst>
          </p:cNvPr>
          <p:cNvSpPr/>
          <p:nvPr/>
        </p:nvSpPr>
        <p:spPr>
          <a:xfrm>
            <a:off x="137698" y="2533825"/>
            <a:ext cx="2219821" cy="510975"/>
          </a:xfrm>
          <a:prstGeom prst="flowChartTerminato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CNN</a:t>
            </a:r>
            <a:endParaRPr dirty="0"/>
          </a:p>
        </p:txBody>
      </p:sp>
      <p:sp>
        <p:nvSpPr>
          <p:cNvPr id="38" name="Google Shape;151;p18">
            <a:extLst>
              <a:ext uri="{FF2B5EF4-FFF2-40B4-BE49-F238E27FC236}">
                <a16:creationId xmlns:a16="http://schemas.microsoft.com/office/drawing/2014/main" id="{039E5A7F-1DBE-01C8-2BFE-6043804628E9}"/>
              </a:ext>
            </a:extLst>
          </p:cNvPr>
          <p:cNvSpPr/>
          <p:nvPr/>
        </p:nvSpPr>
        <p:spPr>
          <a:xfrm>
            <a:off x="2537940" y="4244940"/>
            <a:ext cx="1137841" cy="51089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0.91</a:t>
            </a:r>
            <a:endParaRPr dirty="0"/>
          </a:p>
        </p:txBody>
      </p:sp>
      <p:sp>
        <p:nvSpPr>
          <p:cNvPr id="39" name="Google Shape;157;p18">
            <a:extLst>
              <a:ext uri="{FF2B5EF4-FFF2-40B4-BE49-F238E27FC236}">
                <a16:creationId xmlns:a16="http://schemas.microsoft.com/office/drawing/2014/main" id="{4AA06C21-FAAE-3716-7455-55CFB7BC7B6B}"/>
              </a:ext>
            </a:extLst>
          </p:cNvPr>
          <p:cNvSpPr/>
          <p:nvPr/>
        </p:nvSpPr>
        <p:spPr>
          <a:xfrm>
            <a:off x="2586582" y="4319197"/>
            <a:ext cx="324228" cy="2919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162;p18">
            <a:extLst>
              <a:ext uri="{FF2B5EF4-FFF2-40B4-BE49-F238E27FC236}">
                <a16:creationId xmlns:a16="http://schemas.microsoft.com/office/drawing/2014/main" id="{2DAA0A0E-25C5-5E87-5A5D-C7760D3FC4A1}"/>
              </a:ext>
            </a:extLst>
          </p:cNvPr>
          <p:cNvSpPr/>
          <p:nvPr/>
        </p:nvSpPr>
        <p:spPr>
          <a:xfrm>
            <a:off x="3856134" y="4244941"/>
            <a:ext cx="1137922" cy="510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0.89</a:t>
            </a:r>
            <a:endParaRPr dirty="0"/>
          </a:p>
        </p:txBody>
      </p:sp>
      <p:sp>
        <p:nvSpPr>
          <p:cNvPr id="41" name="Google Shape;169;p18">
            <a:extLst>
              <a:ext uri="{FF2B5EF4-FFF2-40B4-BE49-F238E27FC236}">
                <a16:creationId xmlns:a16="http://schemas.microsoft.com/office/drawing/2014/main" id="{A696789C-47B5-F743-23C1-1AF032AD8279}"/>
              </a:ext>
            </a:extLst>
          </p:cNvPr>
          <p:cNvSpPr/>
          <p:nvPr/>
        </p:nvSpPr>
        <p:spPr>
          <a:xfrm>
            <a:off x="3904678" y="4312431"/>
            <a:ext cx="324228" cy="2919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74;p18">
            <a:extLst>
              <a:ext uri="{FF2B5EF4-FFF2-40B4-BE49-F238E27FC236}">
                <a16:creationId xmlns:a16="http://schemas.microsoft.com/office/drawing/2014/main" id="{9BA869D8-C95B-F653-3978-28E50F867252}"/>
              </a:ext>
            </a:extLst>
          </p:cNvPr>
          <p:cNvSpPr/>
          <p:nvPr/>
        </p:nvSpPr>
        <p:spPr>
          <a:xfrm>
            <a:off x="5174328" y="4244941"/>
            <a:ext cx="1137922" cy="510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0.87</a:t>
            </a:r>
            <a:endParaRPr dirty="0"/>
          </a:p>
        </p:txBody>
      </p:sp>
      <p:sp>
        <p:nvSpPr>
          <p:cNvPr id="43" name="Google Shape;180;p18">
            <a:extLst>
              <a:ext uri="{FF2B5EF4-FFF2-40B4-BE49-F238E27FC236}">
                <a16:creationId xmlns:a16="http://schemas.microsoft.com/office/drawing/2014/main" id="{D572790D-57B6-E5DA-2865-17BBAB44802A}"/>
              </a:ext>
            </a:extLst>
          </p:cNvPr>
          <p:cNvSpPr/>
          <p:nvPr/>
        </p:nvSpPr>
        <p:spPr>
          <a:xfrm>
            <a:off x="5223121" y="4312431"/>
            <a:ext cx="324228" cy="2919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186;p18">
            <a:extLst>
              <a:ext uri="{FF2B5EF4-FFF2-40B4-BE49-F238E27FC236}">
                <a16:creationId xmlns:a16="http://schemas.microsoft.com/office/drawing/2014/main" id="{36C7EC83-C41B-8E94-3C6A-9623A4472350}"/>
              </a:ext>
            </a:extLst>
          </p:cNvPr>
          <p:cNvSpPr/>
          <p:nvPr/>
        </p:nvSpPr>
        <p:spPr>
          <a:xfrm>
            <a:off x="6492444" y="4239552"/>
            <a:ext cx="1137922" cy="5108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0.88</a:t>
            </a:r>
            <a:endParaRPr dirty="0"/>
          </a:p>
        </p:txBody>
      </p:sp>
      <p:sp>
        <p:nvSpPr>
          <p:cNvPr id="45" name="Google Shape;192;p18">
            <a:extLst>
              <a:ext uri="{FF2B5EF4-FFF2-40B4-BE49-F238E27FC236}">
                <a16:creationId xmlns:a16="http://schemas.microsoft.com/office/drawing/2014/main" id="{BC87DFC6-CF85-12A2-A868-024B495C9FA0}"/>
              </a:ext>
            </a:extLst>
          </p:cNvPr>
          <p:cNvSpPr/>
          <p:nvPr/>
        </p:nvSpPr>
        <p:spPr>
          <a:xfrm>
            <a:off x="6518996" y="4320705"/>
            <a:ext cx="324228" cy="2919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199;p18">
            <a:extLst>
              <a:ext uri="{FF2B5EF4-FFF2-40B4-BE49-F238E27FC236}">
                <a16:creationId xmlns:a16="http://schemas.microsoft.com/office/drawing/2014/main" id="{17A368D2-B6DC-D971-343C-35FA328BB8BB}"/>
              </a:ext>
            </a:extLst>
          </p:cNvPr>
          <p:cNvSpPr/>
          <p:nvPr/>
        </p:nvSpPr>
        <p:spPr>
          <a:xfrm>
            <a:off x="137449" y="4265814"/>
            <a:ext cx="2219960" cy="510895"/>
          </a:xfrm>
          <a:prstGeom prst="flowChartTerminator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Optimized CNN</a:t>
            </a:r>
            <a:endParaRPr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0E0E5AF-DD8E-7353-1BF9-B7156C231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639" y="2405463"/>
            <a:ext cx="3838575" cy="3061292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6403F68-CD0D-3B31-A14F-880ADFE858DC}"/>
              </a:ext>
            </a:extLst>
          </p:cNvPr>
          <p:cNvSpPr txBox="1"/>
          <p:nvPr/>
        </p:nvSpPr>
        <p:spPr>
          <a:xfrm>
            <a:off x="7764073" y="5733592"/>
            <a:ext cx="44424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Comparison of CNN, CNN+LSTM and Vision Transformer Models</a:t>
            </a:r>
            <a:endParaRPr lang="en-IN" sz="1200" dirty="0"/>
          </a:p>
        </p:txBody>
      </p:sp>
      <p:sp>
        <p:nvSpPr>
          <p:cNvPr id="50" name="任意多边形: 形状 60">
            <a:extLst>
              <a:ext uri="{FF2B5EF4-FFF2-40B4-BE49-F238E27FC236}">
                <a16:creationId xmlns:a16="http://schemas.microsoft.com/office/drawing/2014/main" id="{24B15153-E735-5BDD-B461-E895A3D9CA3E}"/>
              </a:ext>
            </a:extLst>
          </p:cNvPr>
          <p:cNvSpPr/>
          <p:nvPr/>
        </p:nvSpPr>
        <p:spPr>
          <a:xfrm>
            <a:off x="2628083" y="5961774"/>
            <a:ext cx="1597833" cy="388499"/>
          </a:xfrm>
          <a:custGeom>
            <a:avLst/>
            <a:gdLst>
              <a:gd name="connsiteX0" fmla="*/ 871664 w 1773007"/>
              <a:gd name="connsiteY0" fmla="*/ 0 h 431091"/>
              <a:gd name="connsiteX1" fmla="*/ 1032543 w 1773007"/>
              <a:gd name="connsiteY1" fmla="*/ 106455 h 431091"/>
              <a:gd name="connsiteX2" fmla="*/ 1043269 w 1773007"/>
              <a:gd name="connsiteY2" fmla="*/ 159491 h 431091"/>
              <a:gd name="connsiteX3" fmla="*/ 1773007 w 1773007"/>
              <a:gd name="connsiteY3" fmla="*/ 159491 h 431091"/>
              <a:gd name="connsiteX4" fmla="*/ 1773007 w 1773007"/>
              <a:gd name="connsiteY4" fmla="*/ 431091 h 431091"/>
              <a:gd name="connsiteX5" fmla="*/ 135800 w 1773007"/>
              <a:gd name="connsiteY5" fmla="*/ 431091 h 431091"/>
              <a:gd name="connsiteX6" fmla="*/ 0 w 1773007"/>
              <a:gd name="connsiteY6" fmla="*/ 295291 h 431091"/>
              <a:gd name="connsiteX7" fmla="*/ 135800 w 1773007"/>
              <a:gd name="connsiteY7" fmla="*/ 159491 h 431091"/>
              <a:gd name="connsiteX8" fmla="*/ 700059 w 1773007"/>
              <a:gd name="connsiteY8" fmla="*/ 159491 h 431091"/>
              <a:gd name="connsiteX9" fmla="*/ 710785 w 1773007"/>
              <a:gd name="connsiteY9" fmla="*/ 106455 h 431091"/>
              <a:gd name="connsiteX10" fmla="*/ 871664 w 1773007"/>
              <a:gd name="connsiteY10" fmla="*/ 0 h 43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73007" h="431091">
                <a:moveTo>
                  <a:pt x="871664" y="0"/>
                </a:moveTo>
                <a:cubicBezTo>
                  <a:pt x="943986" y="0"/>
                  <a:pt x="1006037" y="43896"/>
                  <a:pt x="1032543" y="106455"/>
                </a:cubicBezTo>
                <a:lnTo>
                  <a:pt x="1043269" y="159491"/>
                </a:lnTo>
                <a:lnTo>
                  <a:pt x="1773007" y="159491"/>
                </a:lnTo>
                <a:lnTo>
                  <a:pt x="1773007" y="431091"/>
                </a:lnTo>
                <a:lnTo>
                  <a:pt x="135800" y="431091"/>
                </a:lnTo>
                <a:cubicBezTo>
                  <a:pt x="60800" y="431091"/>
                  <a:pt x="0" y="370291"/>
                  <a:pt x="0" y="295291"/>
                </a:cubicBezTo>
                <a:cubicBezTo>
                  <a:pt x="0" y="220291"/>
                  <a:pt x="60800" y="159491"/>
                  <a:pt x="135800" y="159491"/>
                </a:cubicBezTo>
                <a:lnTo>
                  <a:pt x="700059" y="159491"/>
                </a:lnTo>
                <a:lnTo>
                  <a:pt x="710785" y="106455"/>
                </a:lnTo>
                <a:cubicBezTo>
                  <a:pt x="737291" y="43896"/>
                  <a:pt x="799342" y="0"/>
                  <a:pt x="871664" y="0"/>
                </a:cubicBezTo>
                <a:close/>
              </a:path>
            </a:pathLst>
          </a:custGeom>
          <a:solidFill>
            <a:srgbClr val="D26859"/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86677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GB" sz="900">
              <a:solidFill>
                <a:prstClr val="black">
                  <a:lumMod val="50000"/>
                  <a:lumOff val="50000"/>
                </a:prst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51" name="任意多边形: 形状 62">
            <a:extLst>
              <a:ext uri="{FF2B5EF4-FFF2-40B4-BE49-F238E27FC236}">
                <a16:creationId xmlns:a16="http://schemas.microsoft.com/office/drawing/2014/main" id="{93417E7D-1F0A-5C2C-7B14-7BF4B86CA115}"/>
              </a:ext>
            </a:extLst>
          </p:cNvPr>
          <p:cNvSpPr/>
          <p:nvPr/>
        </p:nvSpPr>
        <p:spPr>
          <a:xfrm flipV="1">
            <a:off x="4322838" y="5972558"/>
            <a:ext cx="1597834" cy="377715"/>
          </a:xfrm>
          <a:custGeom>
            <a:avLst/>
            <a:gdLst>
              <a:gd name="connsiteX0" fmla="*/ 0 w 1773008"/>
              <a:gd name="connsiteY0" fmla="*/ 0 h 419125"/>
              <a:gd name="connsiteX1" fmla="*/ 1773008 w 1773008"/>
              <a:gd name="connsiteY1" fmla="*/ 0 h 419125"/>
              <a:gd name="connsiteX2" fmla="*/ 1773008 w 1773008"/>
              <a:gd name="connsiteY2" fmla="*/ 271601 h 419125"/>
              <a:gd name="connsiteX3" fmla="*/ 1055689 w 1773008"/>
              <a:gd name="connsiteY3" fmla="*/ 271601 h 419125"/>
              <a:gd name="connsiteX4" fmla="*/ 1047383 w 1773008"/>
              <a:gd name="connsiteY4" fmla="*/ 312670 h 419125"/>
              <a:gd name="connsiteX5" fmla="*/ 886504 w 1773008"/>
              <a:gd name="connsiteY5" fmla="*/ 419125 h 419125"/>
              <a:gd name="connsiteX6" fmla="*/ 725625 w 1773008"/>
              <a:gd name="connsiteY6" fmla="*/ 312670 h 419125"/>
              <a:gd name="connsiteX7" fmla="*/ 717319 w 1773008"/>
              <a:gd name="connsiteY7" fmla="*/ 271601 h 419125"/>
              <a:gd name="connsiteX8" fmla="*/ 0 w 1773008"/>
              <a:gd name="connsiteY8" fmla="*/ 271601 h 41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3008" h="419125">
                <a:moveTo>
                  <a:pt x="0" y="0"/>
                </a:moveTo>
                <a:lnTo>
                  <a:pt x="1773008" y="0"/>
                </a:lnTo>
                <a:lnTo>
                  <a:pt x="1773008" y="271601"/>
                </a:lnTo>
                <a:lnTo>
                  <a:pt x="1055689" y="271601"/>
                </a:lnTo>
                <a:lnTo>
                  <a:pt x="1047383" y="312670"/>
                </a:lnTo>
                <a:cubicBezTo>
                  <a:pt x="1020877" y="375229"/>
                  <a:pt x="958826" y="419125"/>
                  <a:pt x="886504" y="419125"/>
                </a:cubicBezTo>
                <a:cubicBezTo>
                  <a:pt x="814182" y="419125"/>
                  <a:pt x="752131" y="375229"/>
                  <a:pt x="725625" y="312670"/>
                </a:cubicBezTo>
                <a:lnTo>
                  <a:pt x="717319" y="271601"/>
                </a:lnTo>
                <a:lnTo>
                  <a:pt x="0" y="271601"/>
                </a:lnTo>
                <a:close/>
              </a:path>
            </a:pathLst>
          </a:custGeom>
          <a:solidFill>
            <a:srgbClr val="96C2C4"/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86677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GB" sz="900">
              <a:solidFill>
                <a:prstClr val="black">
                  <a:lumMod val="50000"/>
                  <a:lumOff val="50000"/>
                </a:prst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52" name="任意多边形: 形状 64">
            <a:extLst>
              <a:ext uri="{FF2B5EF4-FFF2-40B4-BE49-F238E27FC236}">
                <a16:creationId xmlns:a16="http://schemas.microsoft.com/office/drawing/2014/main" id="{5D566F74-59D8-0624-2F79-764600F79D4F}"/>
              </a:ext>
            </a:extLst>
          </p:cNvPr>
          <p:cNvSpPr/>
          <p:nvPr/>
        </p:nvSpPr>
        <p:spPr>
          <a:xfrm flipH="1">
            <a:off x="6039116" y="5961774"/>
            <a:ext cx="1597833" cy="388499"/>
          </a:xfrm>
          <a:custGeom>
            <a:avLst/>
            <a:gdLst>
              <a:gd name="connsiteX0" fmla="*/ 871664 w 1773007"/>
              <a:gd name="connsiteY0" fmla="*/ 0 h 431091"/>
              <a:gd name="connsiteX1" fmla="*/ 1032543 w 1773007"/>
              <a:gd name="connsiteY1" fmla="*/ 106455 h 431091"/>
              <a:gd name="connsiteX2" fmla="*/ 1043269 w 1773007"/>
              <a:gd name="connsiteY2" fmla="*/ 159491 h 431091"/>
              <a:gd name="connsiteX3" fmla="*/ 1773007 w 1773007"/>
              <a:gd name="connsiteY3" fmla="*/ 159491 h 431091"/>
              <a:gd name="connsiteX4" fmla="*/ 1773007 w 1773007"/>
              <a:gd name="connsiteY4" fmla="*/ 431091 h 431091"/>
              <a:gd name="connsiteX5" fmla="*/ 135800 w 1773007"/>
              <a:gd name="connsiteY5" fmla="*/ 431091 h 431091"/>
              <a:gd name="connsiteX6" fmla="*/ 0 w 1773007"/>
              <a:gd name="connsiteY6" fmla="*/ 295291 h 431091"/>
              <a:gd name="connsiteX7" fmla="*/ 135800 w 1773007"/>
              <a:gd name="connsiteY7" fmla="*/ 159491 h 431091"/>
              <a:gd name="connsiteX8" fmla="*/ 700059 w 1773007"/>
              <a:gd name="connsiteY8" fmla="*/ 159491 h 431091"/>
              <a:gd name="connsiteX9" fmla="*/ 710785 w 1773007"/>
              <a:gd name="connsiteY9" fmla="*/ 106455 h 431091"/>
              <a:gd name="connsiteX10" fmla="*/ 871664 w 1773007"/>
              <a:gd name="connsiteY10" fmla="*/ 0 h 43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73007" h="431091">
                <a:moveTo>
                  <a:pt x="871664" y="0"/>
                </a:moveTo>
                <a:cubicBezTo>
                  <a:pt x="943986" y="0"/>
                  <a:pt x="1006037" y="43896"/>
                  <a:pt x="1032543" y="106455"/>
                </a:cubicBezTo>
                <a:lnTo>
                  <a:pt x="1043269" y="159491"/>
                </a:lnTo>
                <a:lnTo>
                  <a:pt x="1773007" y="159491"/>
                </a:lnTo>
                <a:lnTo>
                  <a:pt x="1773007" y="431091"/>
                </a:lnTo>
                <a:lnTo>
                  <a:pt x="135800" y="431091"/>
                </a:lnTo>
                <a:cubicBezTo>
                  <a:pt x="60800" y="431091"/>
                  <a:pt x="0" y="370291"/>
                  <a:pt x="0" y="295291"/>
                </a:cubicBezTo>
                <a:cubicBezTo>
                  <a:pt x="0" y="220291"/>
                  <a:pt x="60800" y="159491"/>
                  <a:pt x="135800" y="159491"/>
                </a:cubicBezTo>
                <a:lnTo>
                  <a:pt x="700059" y="159491"/>
                </a:lnTo>
                <a:lnTo>
                  <a:pt x="710785" y="106455"/>
                </a:lnTo>
                <a:cubicBezTo>
                  <a:pt x="737291" y="43896"/>
                  <a:pt x="799342" y="0"/>
                  <a:pt x="871664" y="0"/>
                </a:cubicBezTo>
                <a:close/>
              </a:path>
            </a:pathLst>
          </a:custGeom>
          <a:solidFill>
            <a:srgbClr val="D4BF58"/>
          </a:solidFill>
          <a:ln w="19050">
            <a:solidFill>
              <a:srgbClr val="8774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866775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en-GB" sz="900">
              <a:solidFill>
                <a:prstClr val="black">
                  <a:lumMod val="50000"/>
                  <a:lumOff val="50000"/>
                </a:prstClr>
              </a:solidFill>
              <a:latin typeface="Open Sans" panose="020B0606030504020204" charset="0"/>
              <a:ea typeface="Open Sans" panose="020B0606030504020204" charset="0"/>
              <a:cs typeface="Open Sans" panose="020B0606030504020204" charset="0"/>
              <a:sym typeface="Arial" panose="020B0604020202020204" pitchFamily="34" charset="0"/>
            </a:endParaRPr>
          </a:p>
        </p:txBody>
      </p:sp>
      <p:sp>
        <p:nvSpPr>
          <p:cNvPr id="53" name="文本框 65">
            <a:extLst>
              <a:ext uri="{FF2B5EF4-FFF2-40B4-BE49-F238E27FC236}">
                <a16:creationId xmlns:a16="http://schemas.microsoft.com/office/drawing/2014/main" id="{37499E3D-E19B-030E-E6D3-7FA61F4BA835}"/>
              </a:ext>
            </a:extLst>
          </p:cNvPr>
          <p:cNvSpPr txBox="1"/>
          <p:nvPr/>
        </p:nvSpPr>
        <p:spPr>
          <a:xfrm>
            <a:off x="2692963" y="5084814"/>
            <a:ext cx="1351652" cy="90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900" dirty="0">
                <a:latin typeface="Arial Black" panose="020B0A04020102020204" pitchFamily="34" charset="0"/>
              </a:rPr>
              <a:t>Performance improves from CNN → Optimized CNN 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Arial Black" panose="020B0A04020102020204" pitchFamily="34" charset="0"/>
              <a:cs typeface="Open Sans" panose="020B0606030504020204" charset="0"/>
            </a:endParaRPr>
          </a:p>
        </p:txBody>
      </p:sp>
      <p:sp>
        <p:nvSpPr>
          <p:cNvPr id="54" name="文本框 69">
            <a:extLst>
              <a:ext uri="{FF2B5EF4-FFF2-40B4-BE49-F238E27FC236}">
                <a16:creationId xmlns:a16="http://schemas.microsoft.com/office/drawing/2014/main" id="{75684C04-B7DA-04DE-B845-850CB5E3FDC9}"/>
              </a:ext>
            </a:extLst>
          </p:cNvPr>
          <p:cNvSpPr txBox="1"/>
          <p:nvPr/>
        </p:nvSpPr>
        <p:spPr>
          <a:xfrm>
            <a:off x="4420714" y="5172056"/>
            <a:ext cx="1412241" cy="69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900" dirty="0">
                <a:latin typeface="Arial Black" panose="020B0A04020102020204" pitchFamily="34" charset="0"/>
              </a:rPr>
              <a:t>Deep models capture complex magnetic patterns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Arial Black" panose="020B0A04020102020204" pitchFamily="34" charset="0"/>
              <a:cs typeface="Open Sans" panose="020B0606030504020204" charset="0"/>
            </a:endParaRPr>
          </a:p>
        </p:txBody>
      </p:sp>
      <p:sp>
        <p:nvSpPr>
          <p:cNvPr id="55" name="文本框 73">
            <a:extLst>
              <a:ext uri="{FF2B5EF4-FFF2-40B4-BE49-F238E27FC236}">
                <a16:creationId xmlns:a16="http://schemas.microsoft.com/office/drawing/2014/main" id="{62281D7E-0FC6-0491-F05B-474E9CCF4FFE}"/>
              </a:ext>
            </a:extLst>
          </p:cNvPr>
          <p:cNvSpPr txBox="1"/>
          <p:nvPr/>
        </p:nvSpPr>
        <p:spPr>
          <a:xfrm>
            <a:off x="6136991" y="5160560"/>
            <a:ext cx="1412241" cy="69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900" dirty="0">
                <a:latin typeface="Arial Black" panose="020B0A04020102020204" pitchFamily="34" charset="0"/>
              </a:rPr>
              <a:t>Optimization significantly boosts accuracy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Arial Black" panose="020B0A04020102020204" pitchFamily="34" charset="0"/>
              <a:cs typeface="Open Sans" panose="020B060603050402020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78E5EA-F6FD-FFC9-5AAF-C7464B9B64CC}"/>
              </a:ext>
            </a:extLst>
          </p:cNvPr>
          <p:cNvSpPr txBox="1"/>
          <p:nvPr/>
        </p:nvSpPr>
        <p:spPr>
          <a:xfrm>
            <a:off x="607770" y="5603226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Insights :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2AEED49-EE04-436F-8F02-CAAD405D9D18}"/>
              </a:ext>
            </a:extLst>
          </p:cNvPr>
          <p:cNvSpPr/>
          <p:nvPr/>
        </p:nvSpPr>
        <p:spPr>
          <a:xfrm>
            <a:off x="457200" y="4945699"/>
            <a:ext cx="7292340" cy="173230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684;p22">
            <a:extLst>
              <a:ext uri="{FF2B5EF4-FFF2-40B4-BE49-F238E27FC236}">
                <a16:creationId xmlns:a16="http://schemas.microsoft.com/office/drawing/2014/main" id="{B7D95166-6548-677A-13D0-D7678104BC64}"/>
              </a:ext>
            </a:extLst>
          </p:cNvPr>
          <p:cNvGrpSpPr/>
          <p:nvPr/>
        </p:nvGrpSpPr>
        <p:grpSpPr>
          <a:xfrm>
            <a:off x="5062165" y="1366702"/>
            <a:ext cx="1862022" cy="1786654"/>
            <a:chOff x="10213575" y="2145900"/>
            <a:chExt cx="2337600" cy="2337600"/>
          </a:xfrm>
        </p:grpSpPr>
        <p:sp>
          <p:nvSpPr>
            <p:cNvPr id="3" name="Google Shape;685;p22">
              <a:extLst>
                <a:ext uri="{FF2B5EF4-FFF2-40B4-BE49-F238E27FC236}">
                  <a16:creationId xmlns:a16="http://schemas.microsoft.com/office/drawing/2014/main" id="{08F40A68-A4A0-BAAA-CC21-729E6158DB30}"/>
                </a:ext>
              </a:extLst>
            </p:cNvPr>
            <p:cNvSpPr/>
            <p:nvPr/>
          </p:nvSpPr>
          <p:spPr>
            <a:xfrm>
              <a:off x="10456404" y="2388729"/>
              <a:ext cx="1851600" cy="1851600"/>
            </a:xfrm>
            <a:prstGeom prst="ellipse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Google Shape;686;p22">
              <a:extLst>
                <a:ext uri="{FF2B5EF4-FFF2-40B4-BE49-F238E27FC236}">
                  <a16:creationId xmlns:a16="http://schemas.microsoft.com/office/drawing/2014/main" id="{DDF39C5F-7115-DFC2-CDCC-028B814AD7C9}"/>
                </a:ext>
              </a:extLst>
            </p:cNvPr>
            <p:cNvSpPr/>
            <p:nvPr/>
          </p:nvSpPr>
          <p:spPr>
            <a:xfrm>
              <a:off x="10213575" y="2145900"/>
              <a:ext cx="2337600" cy="2337600"/>
            </a:xfrm>
            <a:prstGeom prst="ellipse">
              <a:avLst/>
            </a:prstGeom>
            <a:noFill/>
            <a:ln w="762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Google Shape;687;p22">
            <a:extLst>
              <a:ext uri="{FF2B5EF4-FFF2-40B4-BE49-F238E27FC236}">
                <a16:creationId xmlns:a16="http://schemas.microsoft.com/office/drawing/2014/main" id="{AEEFDDE3-5441-76A1-D9F8-AAE29F812859}"/>
              </a:ext>
            </a:extLst>
          </p:cNvPr>
          <p:cNvSpPr txBox="1"/>
          <p:nvPr/>
        </p:nvSpPr>
        <p:spPr>
          <a:xfrm>
            <a:off x="5346404" y="2058924"/>
            <a:ext cx="1365216" cy="38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SUMMARY</a:t>
            </a:r>
            <a:endParaRPr sz="1600" dirty="0">
              <a:solidFill>
                <a:schemeClr val="bg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  <a:sym typeface="Roboto"/>
            </a:endParaRPr>
          </a:p>
        </p:txBody>
      </p:sp>
      <p:grpSp>
        <p:nvGrpSpPr>
          <p:cNvPr id="6" name="Google Shape;688;p22">
            <a:extLst>
              <a:ext uri="{FF2B5EF4-FFF2-40B4-BE49-F238E27FC236}">
                <a16:creationId xmlns:a16="http://schemas.microsoft.com/office/drawing/2014/main" id="{3EBC31F1-0A55-17EB-60DA-87C454C2D77E}"/>
              </a:ext>
            </a:extLst>
          </p:cNvPr>
          <p:cNvGrpSpPr/>
          <p:nvPr/>
        </p:nvGrpSpPr>
        <p:grpSpPr>
          <a:xfrm>
            <a:off x="6445566" y="823680"/>
            <a:ext cx="5302547" cy="684835"/>
            <a:chOff x="5190977" y="1060013"/>
            <a:chExt cx="3147148" cy="751710"/>
          </a:xfrm>
        </p:grpSpPr>
        <p:grpSp>
          <p:nvGrpSpPr>
            <p:cNvPr id="7" name="Google Shape;689;p22">
              <a:extLst>
                <a:ext uri="{FF2B5EF4-FFF2-40B4-BE49-F238E27FC236}">
                  <a16:creationId xmlns:a16="http://schemas.microsoft.com/office/drawing/2014/main" id="{7C501EE2-7231-7FBD-95F8-4DE184FABB28}"/>
                </a:ext>
              </a:extLst>
            </p:cNvPr>
            <p:cNvGrpSpPr/>
            <p:nvPr/>
          </p:nvGrpSpPr>
          <p:grpSpPr>
            <a:xfrm>
              <a:off x="5190977" y="1685374"/>
              <a:ext cx="129684" cy="126349"/>
              <a:chOff x="5190977" y="1685374"/>
              <a:chExt cx="129684" cy="126349"/>
            </a:xfrm>
          </p:grpSpPr>
          <p:sp>
            <p:nvSpPr>
              <p:cNvPr id="13" name="Google Shape;690;p22">
                <a:extLst>
                  <a:ext uri="{FF2B5EF4-FFF2-40B4-BE49-F238E27FC236}">
                    <a16:creationId xmlns:a16="http://schemas.microsoft.com/office/drawing/2014/main" id="{F62B8BB5-4C11-3AC4-D3D7-04AADCC367C7}"/>
                  </a:ext>
                </a:extLst>
              </p:cNvPr>
              <p:cNvSpPr/>
              <p:nvPr/>
            </p:nvSpPr>
            <p:spPr>
              <a:xfrm>
                <a:off x="5190977" y="1685374"/>
                <a:ext cx="129684" cy="126349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48" extrusionOk="0">
                    <a:moveTo>
                      <a:pt x="487" y="1"/>
                    </a:moveTo>
                    <a:cubicBezTo>
                      <a:pt x="217" y="1"/>
                      <a:pt x="0" y="217"/>
                      <a:pt x="0" y="487"/>
                    </a:cubicBezTo>
                    <a:cubicBezTo>
                      <a:pt x="0" y="731"/>
                      <a:pt x="217" y="947"/>
                      <a:pt x="487" y="947"/>
                    </a:cubicBezTo>
                    <a:cubicBezTo>
                      <a:pt x="757" y="947"/>
                      <a:pt x="973" y="731"/>
                      <a:pt x="973" y="487"/>
                    </a:cubicBezTo>
                    <a:cubicBezTo>
                      <a:pt x="973" y="217"/>
                      <a:pt x="757" y="1"/>
                      <a:pt x="48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Google Shape;691;p22">
                <a:extLst>
                  <a:ext uri="{FF2B5EF4-FFF2-40B4-BE49-F238E27FC236}">
                    <a16:creationId xmlns:a16="http://schemas.microsoft.com/office/drawing/2014/main" id="{C19D9F57-2A90-8C8E-E1C8-2936180A5732}"/>
                  </a:ext>
                </a:extLst>
              </p:cNvPr>
              <p:cNvSpPr/>
              <p:nvPr/>
            </p:nvSpPr>
            <p:spPr>
              <a:xfrm>
                <a:off x="5223498" y="1714163"/>
                <a:ext cx="68374" cy="68772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6" extrusionOk="0">
                    <a:moveTo>
                      <a:pt x="243" y="1"/>
                    </a:moveTo>
                    <a:cubicBezTo>
                      <a:pt x="109" y="1"/>
                      <a:pt x="1" y="109"/>
                      <a:pt x="1" y="271"/>
                    </a:cubicBezTo>
                    <a:cubicBezTo>
                      <a:pt x="1" y="407"/>
                      <a:pt x="109" y="515"/>
                      <a:pt x="243" y="515"/>
                    </a:cubicBezTo>
                    <a:cubicBezTo>
                      <a:pt x="379" y="515"/>
                      <a:pt x="513" y="407"/>
                      <a:pt x="513" y="271"/>
                    </a:cubicBezTo>
                    <a:cubicBezTo>
                      <a:pt x="513" y="109"/>
                      <a:pt x="379" y="1"/>
                      <a:pt x="2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" name="Google Shape;692;p22">
              <a:extLst>
                <a:ext uri="{FF2B5EF4-FFF2-40B4-BE49-F238E27FC236}">
                  <a16:creationId xmlns:a16="http://schemas.microsoft.com/office/drawing/2014/main" id="{D541C76F-423C-83C2-B235-67B8F962D967}"/>
                </a:ext>
              </a:extLst>
            </p:cNvPr>
            <p:cNvSpPr/>
            <p:nvPr/>
          </p:nvSpPr>
          <p:spPr>
            <a:xfrm>
              <a:off x="5495925" y="1102275"/>
              <a:ext cx="2842200" cy="640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Google Shape;693;p22">
              <a:extLst>
                <a:ext uri="{FF2B5EF4-FFF2-40B4-BE49-F238E27FC236}">
                  <a16:creationId xmlns:a16="http://schemas.microsoft.com/office/drawing/2014/main" id="{62D83C95-C4E5-F827-4EE0-EE7F7F79D690}"/>
                </a:ext>
              </a:extLst>
            </p:cNvPr>
            <p:cNvSpPr/>
            <p:nvPr/>
          </p:nvSpPr>
          <p:spPr>
            <a:xfrm>
              <a:off x="5472945" y="1060013"/>
              <a:ext cx="312339" cy="747546"/>
            </a:xfrm>
            <a:custGeom>
              <a:avLst/>
              <a:gdLst/>
              <a:ahLst/>
              <a:cxnLst/>
              <a:rect l="l" t="t" r="r" b="b"/>
              <a:pathLst>
                <a:path w="2406" h="4809" extrusionOk="0">
                  <a:moveTo>
                    <a:pt x="2405" y="0"/>
                  </a:moveTo>
                  <a:cubicBezTo>
                    <a:pt x="1081" y="0"/>
                    <a:pt x="0" y="1081"/>
                    <a:pt x="0" y="2405"/>
                  </a:cubicBezTo>
                  <a:cubicBezTo>
                    <a:pt x="0" y="3728"/>
                    <a:pt x="1081" y="4808"/>
                    <a:pt x="2405" y="4808"/>
                  </a:cubicBezTo>
                  <a:lnTo>
                    <a:pt x="24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Google Shape;695;p22">
              <a:extLst>
                <a:ext uri="{FF2B5EF4-FFF2-40B4-BE49-F238E27FC236}">
                  <a16:creationId xmlns:a16="http://schemas.microsoft.com/office/drawing/2014/main" id="{CDAA14F0-D720-895C-B23C-53ACED0E83BD}"/>
                </a:ext>
              </a:extLst>
            </p:cNvPr>
            <p:cNvSpPr/>
            <p:nvPr/>
          </p:nvSpPr>
          <p:spPr>
            <a:xfrm>
              <a:off x="5342119" y="1447372"/>
              <a:ext cx="252170" cy="190724"/>
            </a:xfrm>
            <a:custGeom>
              <a:avLst/>
              <a:gdLst/>
              <a:ahLst/>
              <a:cxnLst/>
              <a:rect l="l" t="t" r="r" b="b"/>
              <a:pathLst>
                <a:path w="1892" h="1431" extrusionOk="0">
                  <a:moveTo>
                    <a:pt x="1243" y="0"/>
                  </a:moveTo>
                  <a:lnTo>
                    <a:pt x="1" y="1431"/>
                  </a:lnTo>
                  <a:lnTo>
                    <a:pt x="1892" y="1269"/>
                  </a:lnTo>
                  <a:lnTo>
                    <a:pt x="124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Google Shape;696;p22">
              <a:extLst>
                <a:ext uri="{FF2B5EF4-FFF2-40B4-BE49-F238E27FC236}">
                  <a16:creationId xmlns:a16="http://schemas.microsoft.com/office/drawing/2014/main" id="{0635B9D3-5D83-AA21-49D3-FB169811206B}"/>
                </a:ext>
              </a:extLst>
            </p:cNvPr>
            <p:cNvSpPr txBox="1"/>
            <p:nvPr/>
          </p:nvSpPr>
          <p:spPr>
            <a:xfrm>
              <a:off x="6049588" y="1253475"/>
              <a:ext cx="1958975" cy="3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Successfully deployed using 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Streamlit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for real-time prediction</a:t>
              </a:r>
              <a:endParaRPr sz="1400" dirty="0">
                <a:solidFill>
                  <a:schemeClr val="dk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</p:grpSp>
      <p:grpSp>
        <p:nvGrpSpPr>
          <p:cNvPr id="15" name="Google Shape;697;p22">
            <a:extLst>
              <a:ext uri="{FF2B5EF4-FFF2-40B4-BE49-F238E27FC236}">
                <a16:creationId xmlns:a16="http://schemas.microsoft.com/office/drawing/2014/main" id="{07263774-DAC0-D682-FD0F-9D2CD2648D2C}"/>
              </a:ext>
            </a:extLst>
          </p:cNvPr>
          <p:cNvGrpSpPr/>
          <p:nvPr/>
        </p:nvGrpSpPr>
        <p:grpSpPr>
          <a:xfrm>
            <a:off x="6692828" y="2594910"/>
            <a:ext cx="5055292" cy="791603"/>
            <a:chOff x="5190977" y="3323902"/>
            <a:chExt cx="3147148" cy="769717"/>
          </a:xfrm>
        </p:grpSpPr>
        <p:grpSp>
          <p:nvGrpSpPr>
            <p:cNvPr id="16" name="Google Shape;698;p22">
              <a:extLst>
                <a:ext uri="{FF2B5EF4-FFF2-40B4-BE49-F238E27FC236}">
                  <a16:creationId xmlns:a16="http://schemas.microsoft.com/office/drawing/2014/main" id="{A659D61F-EE9F-8279-CF17-BC128F4F789C}"/>
                </a:ext>
              </a:extLst>
            </p:cNvPr>
            <p:cNvGrpSpPr/>
            <p:nvPr/>
          </p:nvGrpSpPr>
          <p:grpSpPr>
            <a:xfrm>
              <a:off x="5190977" y="3323902"/>
              <a:ext cx="129684" cy="125950"/>
              <a:chOff x="5190977" y="3517974"/>
              <a:chExt cx="129684" cy="125950"/>
            </a:xfrm>
          </p:grpSpPr>
          <p:sp>
            <p:nvSpPr>
              <p:cNvPr id="22" name="Google Shape;699;p22">
                <a:extLst>
                  <a:ext uri="{FF2B5EF4-FFF2-40B4-BE49-F238E27FC236}">
                    <a16:creationId xmlns:a16="http://schemas.microsoft.com/office/drawing/2014/main" id="{BE2B883E-C86F-F115-6683-D0DDF08D0650}"/>
                  </a:ext>
                </a:extLst>
              </p:cNvPr>
              <p:cNvSpPr/>
              <p:nvPr/>
            </p:nvSpPr>
            <p:spPr>
              <a:xfrm>
                <a:off x="5190977" y="3517974"/>
                <a:ext cx="129684" cy="12595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45" extrusionOk="0">
                    <a:moveTo>
                      <a:pt x="487" y="0"/>
                    </a:moveTo>
                    <a:cubicBezTo>
                      <a:pt x="217" y="0"/>
                      <a:pt x="0" y="216"/>
                      <a:pt x="0" y="458"/>
                    </a:cubicBezTo>
                    <a:cubicBezTo>
                      <a:pt x="0" y="729"/>
                      <a:pt x="217" y="945"/>
                      <a:pt x="487" y="945"/>
                    </a:cubicBezTo>
                    <a:cubicBezTo>
                      <a:pt x="757" y="945"/>
                      <a:pt x="973" y="729"/>
                      <a:pt x="973" y="458"/>
                    </a:cubicBezTo>
                    <a:cubicBezTo>
                      <a:pt x="973" y="216"/>
                      <a:pt x="757" y="0"/>
                      <a:pt x="48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Google Shape;700;p22">
                <a:extLst>
                  <a:ext uri="{FF2B5EF4-FFF2-40B4-BE49-F238E27FC236}">
                    <a16:creationId xmlns:a16="http://schemas.microsoft.com/office/drawing/2014/main" id="{3035B521-A95B-1ECA-C476-08F9957F6D59}"/>
                  </a:ext>
                </a:extLst>
              </p:cNvPr>
              <p:cNvSpPr/>
              <p:nvPr/>
            </p:nvSpPr>
            <p:spPr>
              <a:xfrm>
                <a:off x="5223498" y="3546763"/>
                <a:ext cx="68374" cy="68373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43" y="0"/>
                    </a:moveTo>
                    <a:cubicBezTo>
                      <a:pt x="109" y="0"/>
                      <a:pt x="1" y="108"/>
                      <a:pt x="1" y="242"/>
                    </a:cubicBezTo>
                    <a:cubicBezTo>
                      <a:pt x="1" y="404"/>
                      <a:pt x="109" y="513"/>
                      <a:pt x="243" y="513"/>
                    </a:cubicBezTo>
                    <a:cubicBezTo>
                      <a:pt x="379" y="513"/>
                      <a:pt x="513" y="404"/>
                      <a:pt x="513" y="242"/>
                    </a:cubicBezTo>
                    <a:cubicBezTo>
                      <a:pt x="513" y="108"/>
                      <a:pt x="379" y="0"/>
                      <a:pt x="2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Google Shape;701;p22">
              <a:extLst>
                <a:ext uri="{FF2B5EF4-FFF2-40B4-BE49-F238E27FC236}">
                  <a16:creationId xmlns:a16="http://schemas.microsoft.com/office/drawing/2014/main" id="{EDE34A03-6CDF-6A4F-70EC-E22FBF0A35CA}"/>
                </a:ext>
              </a:extLst>
            </p:cNvPr>
            <p:cNvSpPr/>
            <p:nvPr/>
          </p:nvSpPr>
          <p:spPr>
            <a:xfrm>
              <a:off x="5495925" y="3378750"/>
              <a:ext cx="2842200" cy="640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Google Shape;702;p22">
              <a:extLst>
                <a:ext uri="{FF2B5EF4-FFF2-40B4-BE49-F238E27FC236}">
                  <a16:creationId xmlns:a16="http://schemas.microsoft.com/office/drawing/2014/main" id="{A6EA8204-077E-B5D4-B1BF-E4D1229BE1D5}"/>
                </a:ext>
              </a:extLst>
            </p:cNvPr>
            <p:cNvSpPr/>
            <p:nvPr/>
          </p:nvSpPr>
          <p:spPr>
            <a:xfrm>
              <a:off x="5470089" y="3352692"/>
              <a:ext cx="315195" cy="740927"/>
            </a:xfrm>
            <a:custGeom>
              <a:avLst/>
              <a:gdLst/>
              <a:ahLst/>
              <a:cxnLst/>
              <a:rect l="l" t="t" r="r" b="b"/>
              <a:pathLst>
                <a:path w="2406" h="4809" extrusionOk="0">
                  <a:moveTo>
                    <a:pt x="2405" y="0"/>
                  </a:moveTo>
                  <a:cubicBezTo>
                    <a:pt x="1081" y="0"/>
                    <a:pt x="0" y="1081"/>
                    <a:pt x="0" y="2403"/>
                  </a:cubicBezTo>
                  <a:cubicBezTo>
                    <a:pt x="0" y="3728"/>
                    <a:pt x="1081" y="4808"/>
                    <a:pt x="2405" y="4808"/>
                  </a:cubicBezTo>
                  <a:lnTo>
                    <a:pt x="24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Google Shape;704;p22">
              <a:extLst>
                <a:ext uri="{FF2B5EF4-FFF2-40B4-BE49-F238E27FC236}">
                  <a16:creationId xmlns:a16="http://schemas.microsoft.com/office/drawing/2014/main" id="{08853A6A-5F51-A452-ABD2-6F7F44D07048}"/>
                </a:ext>
              </a:extLst>
            </p:cNvPr>
            <p:cNvSpPr/>
            <p:nvPr/>
          </p:nvSpPr>
          <p:spPr>
            <a:xfrm rot="899981">
              <a:off x="5324260" y="3437544"/>
              <a:ext cx="252168" cy="183525"/>
            </a:xfrm>
            <a:custGeom>
              <a:avLst/>
              <a:gdLst/>
              <a:ahLst/>
              <a:cxnLst/>
              <a:rect l="l" t="t" r="r" b="b"/>
              <a:pathLst>
                <a:path w="1892" h="1377" extrusionOk="0">
                  <a:moveTo>
                    <a:pt x="1892" y="1"/>
                  </a:moveTo>
                  <a:lnTo>
                    <a:pt x="1" y="189"/>
                  </a:lnTo>
                  <a:lnTo>
                    <a:pt x="1514" y="1377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Google Shape;705;p22">
              <a:extLst>
                <a:ext uri="{FF2B5EF4-FFF2-40B4-BE49-F238E27FC236}">
                  <a16:creationId xmlns:a16="http://schemas.microsoft.com/office/drawing/2014/main" id="{6D69885F-6D54-5644-28E9-6827DB575AB0}"/>
                </a:ext>
              </a:extLst>
            </p:cNvPr>
            <p:cNvSpPr txBox="1"/>
            <p:nvPr/>
          </p:nvSpPr>
          <p:spPr>
            <a:xfrm>
              <a:off x="5900310" y="3530550"/>
              <a:ext cx="2288650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" sz="1400" dirty="0">
                  <a:solidFill>
                    <a:schemeClr val="dk1"/>
                  </a:solidFill>
                  <a:latin typeface="Arial" panose="020B0604020202020204" pitchFamily="34" charset="0"/>
                  <a:ea typeface="Roboto"/>
                  <a:cs typeface="Arial" panose="020B0604020202020204" pitchFamily="34" charset="0"/>
                  <a:sym typeface="Roboto"/>
                </a:rPr>
                <a:t>P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rovides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a scalable and automated pipeline for large-scale solar data analysis</a:t>
              </a:r>
              <a:endParaRPr sz="14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</p:grpSp>
      <p:grpSp>
        <p:nvGrpSpPr>
          <p:cNvPr id="24" name="Google Shape;706;p22">
            <a:extLst>
              <a:ext uri="{FF2B5EF4-FFF2-40B4-BE49-F238E27FC236}">
                <a16:creationId xmlns:a16="http://schemas.microsoft.com/office/drawing/2014/main" id="{EABA3E60-C20B-8963-A825-BF85FFA3E349}"/>
              </a:ext>
            </a:extLst>
          </p:cNvPr>
          <p:cNvGrpSpPr/>
          <p:nvPr/>
        </p:nvGrpSpPr>
        <p:grpSpPr>
          <a:xfrm>
            <a:off x="6809853" y="1622343"/>
            <a:ext cx="4925037" cy="794495"/>
            <a:chOff x="5570772" y="2203402"/>
            <a:chExt cx="3117453" cy="716239"/>
          </a:xfrm>
        </p:grpSpPr>
        <p:grpSp>
          <p:nvGrpSpPr>
            <p:cNvPr id="25" name="Google Shape;707;p22">
              <a:extLst>
                <a:ext uri="{FF2B5EF4-FFF2-40B4-BE49-F238E27FC236}">
                  <a16:creationId xmlns:a16="http://schemas.microsoft.com/office/drawing/2014/main" id="{C6E0E61B-01D2-FE63-2159-73DF624C1D74}"/>
                </a:ext>
              </a:extLst>
            </p:cNvPr>
            <p:cNvGrpSpPr/>
            <p:nvPr/>
          </p:nvGrpSpPr>
          <p:grpSpPr>
            <a:xfrm>
              <a:off x="5570772" y="2506909"/>
              <a:ext cx="126352" cy="129681"/>
              <a:chOff x="5651734" y="2614202"/>
              <a:chExt cx="126352" cy="129681"/>
            </a:xfrm>
          </p:grpSpPr>
          <p:sp>
            <p:nvSpPr>
              <p:cNvPr id="32" name="Google Shape;708;p22">
                <a:extLst>
                  <a:ext uri="{FF2B5EF4-FFF2-40B4-BE49-F238E27FC236}">
                    <a16:creationId xmlns:a16="http://schemas.microsoft.com/office/drawing/2014/main" id="{3E6F25C9-C563-C479-5955-9AA605A34CFA}"/>
                  </a:ext>
                </a:extLst>
              </p:cNvPr>
              <p:cNvSpPr/>
              <p:nvPr/>
            </p:nvSpPr>
            <p:spPr>
              <a:xfrm>
                <a:off x="5651734" y="2614202"/>
                <a:ext cx="126352" cy="129681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73" extrusionOk="0">
                    <a:moveTo>
                      <a:pt x="487" y="1"/>
                    </a:moveTo>
                    <a:cubicBezTo>
                      <a:pt x="217" y="1"/>
                      <a:pt x="1" y="217"/>
                      <a:pt x="1" y="487"/>
                    </a:cubicBezTo>
                    <a:cubicBezTo>
                      <a:pt x="1" y="757"/>
                      <a:pt x="217" y="973"/>
                      <a:pt x="487" y="973"/>
                    </a:cubicBezTo>
                    <a:cubicBezTo>
                      <a:pt x="731" y="973"/>
                      <a:pt x="947" y="757"/>
                      <a:pt x="947" y="487"/>
                    </a:cubicBezTo>
                    <a:cubicBezTo>
                      <a:pt x="947" y="217"/>
                      <a:pt x="731" y="1"/>
                      <a:pt x="48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Google Shape;709;p22">
                <a:extLst>
                  <a:ext uri="{FF2B5EF4-FFF2-40B4-BE49-F238E27FC236}">
                    <a16:creationId xmlns:a16="http://schemas.microsoft.com/office/drawing/2014/main" id="{A93A1497-2E7F-E198-88F7-E057A1363D41}"/>
                  </a:ext>
                </a:extLst>
              </p:cNvPr>
              <p:cNvSpPr/>
              <p:nvPr/>
            </p:nvSpPr>
            <p:spPr>
              <a:xfrm>
                <a:off x="5680523" y="2646723"/>
                <a:ext cx="68774" cy="64907"/>
              </a:xfrm>
              <a:custGeom>
                <a:avLst/>
                <a:gdLst/>
                <a:ahLst/>
                <a:cxnLst/>
                <a:rect l="l" t="t" r="r" b="b"/>
                <a:pathLst>
                  <a:path w="516" h="487" extrusionOk="0">
                    <a:moveTo>
                      <a:pt x="271" y="1"/>
                    </a:moveTo>
                    <a:cubicBezTo>
                      <a:pt x="109" y="1"/>
                      <a:pt x="1" y="109"/>
                      <a:pt x="1" y="243"/>
                    </a:cubicBezTo>
                    <a:cubicBezTo>
                      <a:pt x="1" y="379"/>
                      <a:pt x="109" y="487"/>
                      <a:pt x="271" y="487"/>
                    </a:cubicBezTo>
                    <a:cubicBezTo>
                      <a:pt x="407" y="487"/>
                      <a:pt x="515" y="379"/>
                      <a:pt x="515" y="243"/>
                    </a:cubicBezTo>
                    <a:cubicBezTo>
                      <a:pt x="515" y="109"/>
                      <a:pt x="407" y="1"/>
                      <a:pt x="2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" name="Google Shape;710;p22">
              <a:extLst>
                <a:ext uri="{FF2B5EF4-FFF2-40B4-BE49-F238E27FC236}">
                  <a16:creationId xmlns:a16="http://schemas.microsoft.com/office/drawing/2014/main" id="{16D20A80-1560-D4D7-CDFB-28475EF04E87}"/>
                </a:ext>
              </a:extLst>
            </p:cNvPr>
            <p:cNvGrpSpPr/>
            <p:nvPr/>
          </p:nvGrpSpPr>
          <p:grpSpPr>
            <a:xfrm>
              <a:off x="5780488" y="2203402"/>
              <a:ext cx="2907737" cy="716239"/>
              <a:chOff x="6407913" y="464834"/>
              <a:chExt cx="2907737" cy="716239"/>
            </a:xfrm>
          </p:grpSpPr>
          <p:sp>
            <p:nvSpPr>
              <p:cNvPr id="28" name="Google Shape;711;p22">
                <a:extLst>
                  <a:ext uri="{FF2B5EF4-FFF2-40B4-BE49-F238E27FC236}">
                    <a16:creationId xmlns:a16="http://schemas.microsoft.com/office/drawing/2014/main" id="{12064A64-3864-A6D2-B102-3D7D96DD5C0D}"/>
                  </a:ext>
                </a:extLst>
              </p:cNvPr>
              <p:cNvSpPr/>
              <p:nvPr/>
            </p:nvSpPr>
            <p:spPr>
              <a:xfrm>
                <a:off x="6586550" y="504850"/>
                <a:ext cx="2729100" cy="638100"/>
              </a:xfrm>
              <a:prstGeom prst="roundRect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Google Shape;712;p22">
                <a:extLst>
                  <a:ext uri="{FF2B5EF4-FFF2-40B4-BE49-F238E27FC236}">
                    <a16:creationId xmlns:a16="http://schemas.microsoft.com/office/drawing/2014/main" id="{18953923-BCD6-074D-4968-747E678BF543}"/>
                  </a:ext>
                </a:extLst>
              </p:cNvPr>
              <p:cNvSpPr/>
              <p:nvPr/>
            </p:nvSpPr>
            <p:spPr>
              <a:xfrm>
                <a:off x="6540360" y="464834"/>
                <a:ext cx="703599" cy="716239"/>
              </a:xfrm>
              <a:prstGeom prst="pie">
                <a:avLst>
                  <a:gd name="adj1" fmla="val 5434631"/>
                  <a:gd name="adj2" fmla="val 1620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Google Shape;713;p22">
                <a:extLst>
                  <a:ext uri="{FF2B5EF4-FFF2-40B4-BE49-F238E27FC236}">
                    <a16:creationId xmlns:a16="http://schemas.microsoft.com/office/drawing/2014/main" id="{BCA77724-6EAE-946F-4F59-6B4A56032EB6}"/>
                  </a:ext>
                </a:extLst>
              </p:cNvPr>
              <p:cNvSpPr/>
              <p:nvPr/>
            </p:nvSpPr>
            <p:spPr>
              <a:xfrm rot="-5400000">
                <a:off x="6437613" y="689350"/>
                <a:ext cx="209700" cy="269100"/>
              </a:xfrm>
              <a:prstGeom prst="triangle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" name="Google Shape;715;p22">
              <a:extLst>
                <a:ext uri="{FF2B5EF4-FFF2-40B4-BE49-F238E27FC236}">
                  <a16:creationId xmlns:a16="http://schemas.microsoft.com/office/drawing/2014/main" id="{2C6D2D5E-4A01-2215-9362-1338F92C3786}"/>
                </a:ext>
              </a:extLst>
            </p:cNvPr>
            <p:cNvSpPr txBox="1"/>
            <p:nvPr/>
          </p:nvSpPr>
          <p:spPr>
            <a:xfrm>
              <a:off x="6393372" y="2393268"/>
              <a:ext cx="2069907" cy="3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" sz="1400" dirty="0">
                  <a:solidFill>
                    <a:schemeClr val="dk1"/>
                  </a:solidFill>
                  <a:latin typeface="Arial" panose="020B0604020202020204" pitchFamily="34" charset="0"/>
                  <a:ea typeface="Roboto"/>
                  <a:cs typeface="Arial" panose="020B0604020202020204" pitchFamily="34" charset="0"/>
                  <a:sym typeface="Roboto"/>
                </a:rPr>
                <a:t>D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emonstrates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effectiveness of AI in space weather forecasting</a:t>
              </a:r>
              <a:endParaRPr sz="14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</p:grpSp>
      <p:grpSp>
        <p:nvGrpSpPr>
          <p:cNvPr id="34" name="Google Shape;716;p22">
            <a:extLst>
              <a:ext uri="{FF2B5EF4-FFF2-40B4-BE49-F238E27FC236}">
                <a16:creationId xmlns:a16="http://schemas.microsoft.com/office/drawing/2014/main" id="{BE51E008-64C4-B3B2-DA18-82FB3C3E034B}"/>
              </a:ext>
            </a:extLst>
          </p:cNvPr>
          <p:cNvGrpSpPr/>
          <p:nvPr/>
        </p:nvGrpSpPr>
        <p:grpSpPr>
          <a:xfrm>
            <a:off x="223520" y="774769"/>
            <a:ext cx="5266557" cy="760271"/>
            <a:chOff x="816206" y="1089844"/>
            <a:chExt cx="3156924" cy="721879"/>
          </a:xfrm>
        </p:grpSpPr>
        <p:grpSp>
          <p:nvGrpSpPr>
            <p:cNvPr id="35" name="Google Shape;717;p22">
              <a:extLst>
                <a:ext uri="{FF2B5EF4-FFF2-40B4-BE49-F238E27FC236}">
                  <a16:creationId xmlns:a16="http://schemas.microsoft.com/office/drawing/2014/main" id="{F4487F3F-BD20-0B43-0624-4D4E2BB337FC}"/>
                </a:ext>
              </a:extLst>
            </p:cNvPr>
            <p:cNvGrpSpPr/>
            <p:nvPr/>
          </p:nvGrpSpPr>
          <p:grpSpPr>
            <a:xfrm>
              <a:off x="3847178" y="1685374"/>
              <a:ext cx="125952" cy="126349"/>
              <a:chOff x="3862683" y="1685374"/>
              <a:chExt cx="125952" cy="126349"/>
            </a:xfrm>
          </p:grpSpPr>
          <p:sp>
            <p:nvSpPr>
              <p:cNvPr id="41" name="Google Shape;718;p22">
                <a:extLst>
                  <a:ext uri="{FF2B5EF4-FFF2-40B4-BE49-F238E27FC236}">
                    <a16:creationId xmlns:a16="http://schemas.microsoft.com/office/drawing/2014/main" id="{411140CA-9867-0A90-A1C2-E1E04CAE8AA2}"/>
                  </a:ext>
                </a:extLst>
              </p:cNvPr>
              <p:cNvSpPr/>
              <p:nvPr/>
            </p:nvSpPr>
            <p:spPr>
              <a:xfrm>
                <a:off x="3862683" y="1685374"/>
                <a:ext cx="125952" cy="126349"/>
              </a:xfrm>
              <a:custGeom>
                <a:avLst/>
                <a:gdLst/>
                <a:ahLst/>
                <a:cxnLst/>
                <a:rect l="l" t="t" r="r" b="b"/>
                <a:pathLst>
                  <a:path w="945" h="948" extrusionOk="0">
                    <a:moveTo>
                      <a:pt x="459" y="1"/>
                    </a:moveTo>
                    <a:cubicBezTo>
                      <a:pt x="217" y="1"/>
                      <a:pt x="1" y="217"/>
                      <a:pt x="1" y="487"/>
                    </a:cubicBezTo>
                    <a:cubicBezTo>
                      <a:pt x="1" y="731"/>
                      <a:pt x="217" y="947"/>
                      <a:pt x="459" y="947"/>
                    </a:cubicBezTo>
                    <a:cubicBezTo>
                      <a:pt x="729" y="947"/>
                      <a:pt x="945" y="731"/>
                      <a:pt x="945" y="487"/>
                    </a:cubicBezTo>
                    <a:cubicBezTo>
                      <a:pt x="945" y="217"/>
                      <a:pt x="729" y="1"/>
                      <a:pt x="4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Google Shape;719;p22">
                <a:extLst>
                  <a:ext uri="{FF2B5EF4-FFF2-40B4-BE49-F238E27FC236}">
                    <a16:creationId xmlns:a16="http://schemas.microsoft.com/office/drawing/2014/main" id="{FC8C9974-9BC7-7181-E7A3-76A3FFF786B2}"/>
                  </a:ext>
                </a:extLst>
              </p:cNvPr>
              <p:cNvSpPr/>
              <p:nvPr/>
            </p:nvSpPr>
            <p:spPr>
              <a:xfrm>
                <a:off x="3891472" y="1714163"/>
                <a:ext cx="68374" cy="68772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6" extrusionOk="0">
                    <a:moveTo>
                      <a:pt x="243" y="1"/>
                    </a:moveTo>
                    <a:cubicBezTo>
                      <a:pt x="109" y="1"/>
                      <a:pt x="1" y="109"/>
                      <a:pt x="1" y="271"/>
                    </a:cubicBezTo>
                    <a:cubicBezTo>
                      <a:pt x="1" y="407"/>
                      <a:pt x="109" y="515"/>
                      <a:pt x="243" y="515"/>
                    </a:cubicBezTo>
                    <a:cubicBezTo>
                      <a:pt x="405" y="515"/>
                      <a:pt x="513" y="407"/>
                      <a:pt x="513" y="271"/>
                    </a:cubicBezTo>
                    <a:cubicBezTo>
                      <a:pt x="513" y="109"/>
                      <a:pt x="405" y="1"/>
                      <a:pt x="2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6" name="Google Shape;720;p22">
              <a:extLst>
                <a:ext uri="{FF2B5EF4-FFF2-40B4-BE49-F238E27FC236}">
                  <a16:creationId xmlns:a16="http://schemas.microsoft.com/office/drawing/2014/main" id="{FF4A3159-F564-1287-DDAC-B55F727D4EE6}"/>
                </a:ext>
              </a:extLst>
            </p:cNvPr>
            <p:cNvSpPr/>
            <p:nvPr/>
          </p:nvSpPr>
          <p:spPr>
            <a:xfrm flipH="1">
              <a:off x="816206" y="1102275"/>
              <a:ext cx="2842200" cy="640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Google Shape;721;p22">
              <a:extLst>
                <a:ext uri="{FF2B5EF4-FFF2-40B4-BE49-F238E27FC236}">
                  <a16:creationId xmlns:a16="http://schemas.microsoft.com/office/drawing/2014/main" id="{B5693902-92B9-C67A-8740-2805CD975FE3}"/>
                </a:ext>
              </a:extLst>
            </p:cNvPr>
            <p:cNvSpPr/>
            <p:nvPr/>
          </p:nvSpPr>
          <p:spPr>
            <a:xfrm flipH="1">
              <a:off x="3381368" y="1089844"/>
              <a:ext cx="343141" cy="685732"/>
            </a:xfrm>
            <a:custGeom>
              <a:avLst/>
              <a:gdLst/>
              <a:ahLst/>
              <a:cxnLst/>
              <a:rect l="l" t="t" r="r" b="b"/>
              <a:pathLst>
                <a:path w="2406" h="4809" extrusionOk="0">
                  <a:moveTo>
                    <a:pt x="2405" y="0"/>
                  </a:moveTo>
                  <a:cubicBezTo>
                    <a:pt x="1081" y="0"/>
                    <a:pt x="0" y="1081"/>
                    <a:pt x="0" y="2405"/>
                  </a:cubicBezTo>
                  <a:cubicBezTo>
                    <a:pt x="0" y="3728"/>
                    <a:pt x="1081" y="4808"/>
                    <a:pt x="2405" y="4808"/>
                  </a:cubicBezTo>
                  <a:lnTo>
                    <a:pt x="24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Google Shape;723;p22">
              <a:extLst>
                <a:ext uri="{FF2B5EF4-FFF2-40B4-BE49-F238E27FC236}">
                  <a16:creationId xmlns:a16="http://schemas.microsoft.com/office/drawing/2014/main" id="{52667DF0-9869-65BF-5632-D8C7B29A8B2B}"/>
                </a:ext>
              </a:extLst>
            </p:cNvPr>
            <p:cNvSpPr/>
            <p:nvPr/>
          </p:nvSpPr>
          <p:spPr>
            <a:xfrm flipH="1">
              <a:off x="3560041" y="1447372"/>
              <a:ext cx="252170" cy="190724"/>
            </a:xfrm>
            <a:custGeom>
              <a:avLst/>
              <a:gdLst/>
              <a:ahLst/>
              <a:cxnLst/>
              <a:rect l="l" t="t" r="r" b="b"/>
              <a:pathLst>
                <a:path w="1892" h="1431" extrusionOk="0">
                  <a:moveTo>
                    <a:pt x="1243" y="0"/>
                  </a:moveTo>
                  <a:lnTo>
                    <a:pt x="1" y="1431"/>
                  </a:lnTo>
                  <a:lnTo>
                    <a:pt x="1892" y="1269"/>
                  </a:lnTo>
                  <a:lnTo>
                    <a:pt x="12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Google Shape;724;p22">
              <a:extLst>
                <a:ext uri="{FF2B5EF4-FFF2-40B4-BE49-F238E27FC236}">
                  <a16:creationId xmlns:a16="http://schemas.microsoft.com/office/drawing/2014/main" id="{087FE028-C15C-F305-A256-7342876EAE3E}"/>
                </a:ext>
              </a:extLst>
            </p:cNvPr>
            <p:cNvSpPr txBox="1"/>
            <p:nvPr/>
          </p:nvSpPr>
          <p:spPr>
            <a:xfrm flipH="1">
              <a:off x="1007200" y="1253475"/>
              <a:ext cx="2351516" cy="3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Developed a CNN-based deep learning system for solar flare prediction using JSOC magnetogram images + NOAA data</a:t>
              </a:r>
              <a:endParaRPr lang="en-IN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3" name="Google Shape;725;p22">
            <a:extLst>
              <a:ext uri="{FF2B5EF4-FFF2-40B4-BE49-F238E27FC236}">
                <a16:creationId xmlns:a16="http://schemas.microsoft.com/office/drawing/2014/main" id="{0EE0A4AE-7B5F-04D1-41C3-5D6E13B12318}"/>
              </a:ext>
            </a:extLst>
          </p:cNvPr>
          <p:cNvGrpSpPr/>
          <p:nvPr/>
        </p:nvGrpSpPr>
        <p:grpSpPr>
          <a:xfrm>
            <a:off x="223520" y="2454115"/>
            <a:ext cx="4999207" cy="812379"/>
            <a:chOff x="816206" y="3323902"/>
            <a:chExt cx="3158790" cy="730013"/>
          </a:xfrm>
        </p:grpSpPr>
        <p:grpSp>
          <p:nvGrpSpPr>
            <p:cNvPr id="44" name="Google Shape;726;p22">
              <a:extLst>
                <a:ext uri="{FF2B5EF4-FFF2-40B4-BE49-F238E27FC236}">
                  <a16:creationId xmlns:a16="http://schemas.microsoft.com/office/drawing/2014/main" id="{11AA2FA9-1738-12A2-2CF1-929B3E637674}"/>
                </a:ext>
              </a:extLst>
            </p:cNvPr>
            <p:cNvGrpSpPr/>
            <p:nvPr/>
          </p:nvGrpSpPr>
          <p:grpSpPr>
            <a:xfrm>
              <a:off x="3845312" y="3323902"/>
              <a:ext cx="129684" cy="125950"/>
              <a:chOff x="3833894" y="3517974"/>
              <a:chExt cx="129684" cy="125950"/>
            </a:xfrm>
          </p:grpSpPr>
          <p:sp>
            <p:nvSpPr>
              <p:cNvPr id="50" name="Google Shape;727;p22">
                <a:extLst>
                  <a:ext uri="{FF2B5EF4-FFF2-40B4-BE49-F238E27FC236}">
                    <a16:creationId xmlns:a16="http://schemas.microsoft.com/office/drawing/2014/main" id="{ACCDF498-28A2-1CAC-598D-542101F94EF4}"/>
                  </a:ext>
                </a:extLst>
              </p:cNvPr>
              <p:cNvSpPr/>
              <p:nvPr/>
            </p:nvSpPr>
            <p:spPr>
              <a:xfrm>
                <a:off x="3833894" y="3517974"/>
                <a:ext cx="129684" cy="12595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45" extrusionOk="0">
                    <a:moveTo>
                      <a:pt x="487" y="0"/>
                    </a:moveTo>
                    <a:cubicBezTo>
                      <a:pt x="217" y="0"/>
                      <a:pt x="0" y="216"/>
                      <a:pt x="0" y="458"/>
                    </a:cubicBezTo>
                    <a:cubicBezTo>
                      <a:pt x="0" y="729"/>
                      <a:pt x="217" y="945"/>
                      <a:pt x="487" y="945"/>
                    </a:cubicBezTo>
                    <a:cubicBezTo>
                      <a:pt x="757" y="945"/>
                      <a:pt x="973" y="729"/>
                      <a:pt x="973" y="458"/>
                    </a:cubicBezTo>
                    <a:cubicBezTo>
                      <a:pt x="973" y="216"/>
                      <a:pt x="757" y="0"/>
                      <a:pt x="4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Google Shape;728;p22">
                <a:extLst>
                  <a:ext uri="{FF2B5EF4-FFF2-40B4-BE49-F238E27FC236}">
                    <a16:creationId xmlns:a16="http://schemas.microsoft.com/office/drawing/2014/main" id="{BE7C1EB0-F75E-5536-9E38-8A2C71D2BBCE}"/>
                  </a:ext>
                </a:extLst>
              </p:cNvPr>
              <p:cNvSpPr/>
              <p:nvPr/>
            </p:nvSpPr>
            <p:spPr>
              <a:xfrm>
                <a:off x="3866149" y="3546763"/>
                <a:ext cx="64909" cy="68373"/>
              </a:xfrm>
              <a:custGeom>
                <a:avLst/>
                <a:gdLst/>
                <a:ahLst/>
                <a:cxnLst/>
                <a:rect l="l" t="t" r="r" b="b"/>
                <a:pathLst>
                  <a:path w="487" h="513" extrusionOk="0">
                    <a:moveTo>
                      <a:pt x="245" y="0"/>
                    </a:moveTo>
                    <a:cubicBezTo>
                      <a:pt x="109" y="0"/>
                      <a:pt x="0" y="108"/>
                      <a:pt x="0" y="242"/>
                    </a:cubicBezTo>
                    <a:cubicBezTo>
                      <a:pt x="0" y="404"/>
                      <a:pt x="109" y="513"/>
                      <a:pt x="245" y="513"/>
                    </a:cubicBezTo>
                    <a:cubicBezTo>
                      <a:pt x="379" y="513"/>
                      <a:pt x="487" y="404"/>
                      <a:pt x="487" y="242"/>
                    </a:cubicBezTo>
                    <a:cubicBezTo>
                      <a:pt x="487" y="108"/>
                      <a:pt x="379" y="0"/>
                      <a:pt x="2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5" name="Google Shape;729;p22">
              <a:extLst>
                <a:ext uri="{FF2B5EF4-FFF2-40B4-BE49-F238E27FC236}">
                  <a16:creationId xmlns:a16="http://schemas.microsoft.com/office/drawing/2014/main" id="{FCBB74DA-3ED9-7696-5595-3E33214C2C6A}"/>
                </a:ext>
              </a:extLst>
            </p:cNvPr>
            <p:cNvSpPr/>
            <p:nvPr/>
          </p:nvSpPr>
          <p:spPr>
            <a:xfrm flipH="1">
              <a:off x="816206" y="3378750"/>
              <a:ext cx="2842200" cy="6408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Google Shape;730;p22">
              <a:extLst>
                <a:ext uri="{FF2B5EF4-FFF2-40B4-BE49-F238E27FC236}">
                  <a16:creationId xmlns:a16="http://schemas.microsoft.com/office/drawing/2014/main" id="{C9DADCF7-9B9D-449A-BCEE-111F4F34FC5B}"/>
                </a:ext>
              </a:extLst>
            </p:cNvPr>
            <p:cNvSpPr/>
            <p:nvPr/>
          </p:nvSpPr>
          <p:spPr>
            <a:xfrm flipH="1">
              <a:off x="3369048" y="3323902"/>
              <a:ext cx="367598" cy="730013"/>
            </a:xfrm>
            <a:custGeom>
              <a:avLst/>
              <a:gdLst/>
              <a:ahLst/>
              <a:cxnLst/>
              <a:rect l="l" t="t" r="r" b="b"/>
              <a:pathLst>
                <a:path w="2406" h="4809" extrusionOk="0">
                  <a:moveTo>
                    <a:pt x="2405" y="0"/>
                  </a:moveTo>
                  <a:cubicBezTo>
                    <a:pt x="1081" y="0"/>
                    <a:pt x="0" y="1081"/>
                    <a:pt x="0" y="2403"/>
                  </a:cubicBezTo>
                  <a:cubicBezTo>
                    <a:pt x="0" y="3728"/>
                    <a:pt x="1081" y="4808"/>
                    <a:pt x="2405" y="4808"/>
                  </a:cubicBezTo>
                  <a:lnTo>
                    <a:pt x="24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Google Shape;732;p22">
              <a:extLst>
                <a:ext uri="{FF2B5EF4-FFF2-40B4-BE49-F238E27FC236}">
                  <a16:creationId xmlns:a16="http://schemas.microsoft.com/office/drawing/2014/main" id="{A49FBDB6-39CF-1EFC-5933-12D3F1E45F95}"/>
                </a:ext>
              </a:extLst>
            </p:cNvPr>
            <p:cNvSpPr/>
            <p:nvPr/>
          </p:nvSpPr>
          <p:spPr>
            <a:xfrm rot="-899981" flipH="1">
              <a:off x="3577903" y="3437544"/>
              <a:ext cx="252168" cy="183525"/>
            </a:xfrm>
            <a:custGeom>
              <a:avLst/>
              <a:gdLst/>
              <a:ahLst/>
              <a:cxnLst/>
              <a:rect l="l" t="t" r="r" b="b"/>
              <a:pathLst>
                <a:path w="1892" h="1377" extrusionOk="0">
                  <a:moveTo>
                    <a:pt x="1892" y="1"/>
                  </a:moveTo>
                  <a:lnTo>
                    <a:pt x="1" y="189"/>
                  </a:lnTo>
                  <a:lnTo>
                    <a:pt x="1514" y="1377"/>
                  </a:lnTo>
                  <a:lnTo>
                    <a:pt x="18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Google Shape;733;p22">
              <a:extLst>
                <a:ext uri="{FF2B5EF4-FFF2-40B4-BE49-F238E27FC236}">
                  <a16:creationId xmlns:a16="http://schemas.microsoft.com/office/drawing/2014/main" id="{53330C81-C651-5969-55A8-9159F578627C}"/>
                </a:ext>
              </a:extLst>
            </p:cNvPr>
            <p:cNvSpPr txBox="1"/>
            <p:nvPr/>
          </p:nvSpPr>
          <p:spPr>
            <a:xfrm flipH="1">
              <a:off x="1111472" y="3530550"/>
              <a:ext cx="2236316" cy="3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" sz="1400" dirty="0">
                  <a:solidFill>
                    <a:schemeClr val="dk1"/>
                  </a:solidFill>
                  <a:latin typeface="Arial" panose="020B0604020202020204" pitchFamily="34" charset="0"/>
                  <a:ea typeface="Roboto"/>
                  <a:cs typeface="Arial" panose="020B0604020202020204" pitchFamily="34" charset="0"/>
                  <a:sym typeface="Roboto"/>
                </a:rPr>
                <a:t>O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ptimized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CNN achieved 91% accuracy, outperforming CNN+LSTM (88%) and </a:t>
              </a:r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ViT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(89%)</a:t>
              </a:r>
              <a:endParaRPr sz="1400" dirty="0">
                <a:solidFill>
                  <a:schemeClr val="dk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endParaRPr>
            </a:p>
          </p:txBody>
        </p:sp>
      </p:grpSp>
      <p:grpSp>
        <p:nvGrpSpPr>
          <p:cNvPr id="52" name="Google Shape;734;p22">
            <a:extLst>
              <a:ext uri="{FF2B5EF4-FFF2-40B4-BE49-F238E27FC236}">
                <a16:creationId xmlns:a16="http://schemas.microsoft.com/office/drawing/2014/main" id="{7C472450-A34A-69C9-CB2C-6DE477BB8DE8}"/>
              </a:ext>
            </a:extLst>
          </p:cNvPr>
          <p:cNvGrpSpPr/>
          <p:nvPr/>
        </p:nvGrpSpPr>
        <p:grpSpPr>
          <a:xfrm>
            <a:off x="223520" y="1666731"/>
            <a:ext cx="4923581" cy="722201"/>
            <a:chOff x="466106" y="2225571"/>
            <a:chExt cx="3118868" cy="682688"/>
          </a:xfrm>
        </p:grpSpPr>
        <p:grpSp>
          <p:nvGrpSpPr>
            <p:cNvPr id="53" name="Google Shape;735;p22">
              <a:extLst>
                <a:ext uri="{FF2B5EF4-FFF2-40B4-BE49-F238E27FC236}">
                  <a16:creationId xmlns:a16="http://schemas.microsoft.com/office/drawing/2014/main" id="{8A1D0484-03EB-04E9-6F86-53A7C9DD6B55}"/>
                </a:ext>
              </a:extLst>
            </p:cNvPr>
            <p:cNvGrpSpPr/>
            <p:nvPr/>
          </p:nvGrpSpPr>
          <p:grpSpPr>
            <a:xfrm>
              <a:off x="3455290" y="2506909"/>
              <a:ext cx="129684" cy="129681"/>
              <a:chOff x="3390997" y="2614202"/>
              <a:chExt cx="129684" cy="129681"/>
            </a:xfrm>
          </p:grpSpPr>
          <p:sp>
            <p:nvSpPr>
              <p:cNvPr id="59" name="Google Shape;736;p22">
                <a:extLst>
                  <a:ext uri="{FF2B5EF4-FFF2-40B4-BE49-F238E27FC236}">
                    <a16:creationId xmlns:a16="http://schemas.microsoft.com/office/drawing/2014/main" id="{AEA83B07-E760-B0C2-27A8-463609EB0F9D}"/>
                  </a:ext>
                </a:extLst>
              </p:cNvPr>
              <p:cNvSpPr/>
              <p:nvPr/>
            </p:nvSpPr>
            <p:spPr>
              <a:xfrm>
                <a:off x="3390997" y="2614202"/>
                <a:ext cx="129684" cy="129681"/>
              </a:xfrm>
              <a:custGeom>
                <a:avLst/>
                <a:gdLst/>
                <a:ahLst/>
                <a:cxnLst/>
                <a:rect l="l" t="t" r="r" b="b"/>
                <a:pathLst>
                  <a:path w="973" h="973" extrusionOk="0">
                    <a:moveTo>
                      <a:pt x="486" y="1"/>
                    </a:moveTo>
                    <a:cubicBezTo>
                      <a:pt x="216" y="1"/>
                      <a:pt x="0" y="217"/>
                      <a:pt x="0" y="487"/>
                    </a:cubicBezTo>
                    <a:cubicBezTo>
                      <a:pt x="0" y="757"/>
                      <a:pt x="216" y="973"/>
                      <a:pt x="486" y="973"/>
                    </a:cubicBezTo>
                    <a:cubicBezTo>
                      <a:pt x="756" y="973"/>
                      <a:pt x="972" y="757"/>
                      <a:pt x="972" y="487"/>
                    </a:cubicBezTo>
                    <a:cubicBezTo>
                      <a:pt x="972" y="217"/>
                      <a:pt x="756" y="1"/>
                      <a:pt x="48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Google Shape;737;p22">
                <a:extLst>
                  <a:ext uri="{FF2B5EF4-FFF2-40B4-BE49-F238E27FC236}">
                    <a16:creationId xmlns:a16="http://schemas.microsoft.com/office/drawing/2014/main" id="{00A66B0E-2946-525C-3392-41C71A2A867E}"/>
                  </a:ext>
                </a:extLst>
              </p:cNvPr>
              <p:cNvSpPr/>
              <p:nvPr/>
            </p:nvSpPr>
            <p:spPr>
              <a:xfrm>
                <a:off x="3423518" y="2646723"/>
                <a:ext cx="68374" cy="64907"/>
              </a:xfrm>
              <a:custGeom>
                <a:avLst/>
                <a:gdLst/>
                <a:ahLst/>
                <a:cxnLst/>
                <a:rect l="l" t="t" r="r" b="b"/>
                <a:pathLst>
                  <a:path w="513" h="487" extrusionOk="0">
                    <a:moveTo>
                      <a:pt x="242" y="1"/>
                    </a:moveTo>
                    <a:cubicBezTo>
                      <a:pt x="108" y="1"/>
                      <a:pt x="0" y="109"/>
                      <a:pt x="0" y="243"/>
                    </a:cubicBezTo>
                    <a:cubicBezTo>
                      <a:pt x="0" y="379"/>
                      <a:pt x="108" y="487"/>
                      <a:pt x="242" y="487"/>
                    </a:cubicBezTo>
                    <a:cubicBezTo>
                      <a:pt x="378" y="487"/>
                      <a:pt x="512" y="379"/>
                      <a:pt x="512" y="243"/>
                    </a:cubicBezTo>
                    <a:cubicBezTo>
                      <a:pt x="512" y="109"/>
                      <a:pt x="378" y="1"/>
                      <a:pt x="2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4" name="Google Shape;738;p22">
              <a:extLst>
                <a:ext uri="{FF2B5EF4-FFF2-40B4-BE49-F238E27FC236}">
                  <a16:creationId xmlns:a16="http://schemas.microsoft.com/office/drawing/2014/main" id="{3906A6A0-65AB-33DF-9711-F2184A038544}"/>
                </a:ext>
              </a:extLst>
            </p:cNvPr>
            <p:cNvSpPr/>
            <p:nvPr/>
          </p:nvSpPr>
          <p:spPr>
            <a:xfrm flipH="1">
              <a:off x="466106" y="2243418"/>
              <a:ext cx="2729100" cy="6381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Google Shape;739;p22">
              <a:extLst>
                <a:ext uri="{FF2B5EF4-FFF2-40B4-BE49-F238E27FC236}">
                  <a16:creationId xmlns:a16="http://schemas.microsoft.com/office/drawing/2014/main" id="{C86376B6-2FFE-A022-E8B2-EFAEBE430B32}"/>
                </a:ext>
              </a:extLst>
            </p:cNvPr>
            <p:cNvSpPr/>
            <p:nvPr/>
          </p:nvSpPr>
          <p:spPr>
            <a:xfrm flipH="1">
              <a:off x="2559805" y="2225571"/>
              <a:ext cx="680280" cy="682688"/>
            </a:xfrm>
            <a:prstGeom prst="pie">
              <a:avLst>
                <a:gd name="adj1" fmla="val 5434631"/>
                <a:gd name="adj2" fmla="val 162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Google Shape;740;p22">
              <a:extLst>
                <a:ext uri="{FF2B5EF4-FFF2-40B4-BE49-F238E27FC236}">
                  <a16:creationId xmlns:a16="http://schemas.microsoft.com/office/drawing/2014/main" id="{36CF9DBF-45C5-5988-C584-4E16F9197F49}"/>
                </a:ext>
              </a:extLst>
            </p:cNvPr>
            <p:cNvSpPr/>
            <p:nvPr/>
          </p:nvSpPr>
          <p:spPr>
            <a:xfrm rot="5400000" flipH="1">
              <a:off x="3134443" y="2427918"/>
              <a:ext cx="209700" cy="2691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Google Shape;742;p22">
              <a:extLst>
                <a:ext uri="{FF2B5EF4-FFF2-40B4-BE49-F238E27FC236}">
                  <a16:creationId xmlns:a16="http://schemas.microsoft.com/office/drawing/2014/main" id="{EFC7FB4A-7122-6A29-E73B-405C087D2F1B}"/>
                </a:ext>
              </a:extLst>
            </p:cNvPr>
            <p:cNvSpPr txBox="1"/>
            <p:nvPr/>
          </p:nvSpPr>
          <p:spPr>
            <a:xfrm flipH="1">
              <a:off x="668332" y="2373243"/>
              <a:ext cx="2217630" cy="3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Applied preprocessing (normalization, noise reduction, hybrid labeling) to improve data quality</a:t>
              </a:r>
              <a:endParaRPr lang="en-IN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0A4D793B-47D6-D8D9-0B0C-BE2CF849EF37}"/>
              </a:ext>
            </a:extLst>
          </p:cNvPr>
          <p:cNvSpPr txBox="1"/>
          <p:nvPr/>
        </p:nvSpPr>
        <p:spPr>
          <a:xfrm>
            <a:off x="-1" y="25015"/>
            <a:ext cx="12205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lgerian" panose="04020705040A02060702" pitchFamily="82" charset="0"/>
              </a:rPr>
              <a:t>CONCLUSION</a:t>
            </a:r>
            <a:endParaRPr lang="en-IN" sz="3600" b="1" dirty="0">
              <a:latin typeface="Algerian" panose="04020705040A02060702" pitchFamily="82" charset="0"/>
            </a:endParaRPr>
          </a:p>
        </p:txBody>
      </p:sp>
      <p:grpSp>
        <p:nvGrpSpPr>
          <p:cNvPr id="74" name="Google Shape;555;p27">
            <a:extLst>
              <a:ext uri="{FF2B5EF4-FFF2-40B4-BE49-F238E27FC236}">
                <a16:creationId xmlns:a16="http://schemas.microsoft.com/office/drawing/2014/main" id="{1CC1E648-ECDE-E9B0-F2FC-BDBBAE1EC37A}"/>
              </a:ext>
            </a:extLst>
          </p:cNvPr>
          <p:cNvGrpSpPr/>
          <p:nvPr/>
        </p:nvGrpSpPr>
        <p:grpSpPr>
          <a:xfrm>
            <a:off x="460454" y="3785682"/>
            <a:ext cx="5372642" cy="910174"/>
            <a:chOff x="1028701" y="1379350"/>
            <a:chExt cx="3394774" cy="1262700"/>
          </a:xfrm>
        </p:grpSpPr>
        <p:sp>
          <p:nvSpPr>
            <p:cNvPr id="75" name="Google Shape;556;p27">
              <a:extLst>
                <a:ext uri="{FF2B5EF4-FFF2-40B4-BE49-F238E27FC236}">
                  <a16:creationId xmlns:a16="http://schemas.microsoft.com/office/drawing/2014/main" id="{AB6BBFA3-FD3D-2DAC-8B3C-6E7A9C922A80}"/>
                </a:ext>
              </a:extLst>
            </p:cNvPr>
            <p:cNvSpPr/>
            <p:nvPr/>
          </p:nvSpPr>
          <p:spPr>
            <a:xfrm>
              <a:off x="1502375" y="1379350"/>
              <a:ext cx="2921100" cy="1262700"/>
            </a:xfrm>
            <a:prstGeom prst="roundRect">
              <a:avLst>
                <a:gd name="adj" fmla="val 16667"/>
              </a:avLst>
            </a:prstGeom>
            <a:noFill/>
            <a:ln w="381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" name="Google Shape;559;p27">
              <a:extLst>
                <a:ext uri="{FF2B5EF4-FFF2-40B4-BE49-F238E27FC236}">
                  <a16:creationId xmlns:a16="http://schemas.microsoft.com/office/drawing/2014/main" id="{AD13CC1F-43AC-8FF7-3782-F325E70B6007}"/>
                </a:ext>
              </a:extLst>
            </p:cNvPr>
            <p:cNvGrpSpPr/>
            <p:nvPr/>
          </p:nvGrpSpPr>
          <p:grpSpPr>
            <a:xfrm rot="10800000" flipH="1">
              <a:off x="1028701" y="1379350"/>
              <a:ext cx="883342" cy="1003025"/>
              <a:chOff x="938863" y="1509175"/>
              <a:chExt cx="835470" cy="1003025"/>
            </a:xfrm>
          </p:grpSpPr>
          <p:sp>
            <p:nvSpPr>
              <p:cNvPr id="80" name="Google Shape;560;p27">
                <a:extLst>
                  <a:ext uri="{FF2B5EF4-FFF2-40B4-BE49-F238E27FC236}">
                    <a16:creationId xmlns:a16="http://schemas.microsoft.com/office/drawing/2014/main" id="{7BBFCB22-E130-B076-B098-0654083F3FD4}"/>
                  </a:ext>
                </a:extLst>
              </p:cNvPr>
              <p:cNvSpPr/>
              <p:nvPr/>
            </p:nvSpPr>
            <p:spPr>
              <a:xfrm>
                <a:off x="938863" y="2099025"/>
                <a:ext cx="451275" cy="413175"/>
              </a:xfrm>
              <a:custGeom>
                <a:avLst/>
                <a:gdLst/>
                <a:ahLst/>
                <a:cxnLst/>
                <a:rect l="l" t="t" r="r" b="b"/>
                <a:pathLst>
                  <a:path w="18051" h="16527" extrusionOk="0">
                    <a:moveTo>
                      <a:pt x="11216" y="1"/>
                    </a:moveTo>
                    <a:cubicBezTo>
                      <a:pt x="5025" y="1"/>
                      <a:pt x="1" y="5025"/>
                      <a:pt x="1" y="11216"/>
                    </a:cubicBezTo>
                    <a:lnTo>
                      <a:pt x="1" y="16526"/>
                    </a:lnTo>
                    <a:lnTo>
                      <a:pt x="8919" y="16526"/>
                    </a:lnTo>
                    <a:cubicBezTo>
                      <a:pt x="13955" y="16526"/>
                      <a:pt x="18051" y="12443"/>
                      <a:pt x="18051" y="7394"/>
                    </a:cubicBezTo>
                    <a:lnTo>
                      <a:pt x="18051" y="1"/>
                    </a:lnTo>
                    <a:close/>
                  </a:path>
                </a:pathLst>
              </a:custGeom>
              <a:noFill/>
              <a:ln w="381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561;p27">
                <a:extLst>
                  <a:ext uri="{FF2B5EF4-FFF2-40B4-BE49-F238E27FC236}">
                    <a16:creationId xmlns:a16="http://schemas.microsoft.com/office/drawing/2014/main" id="{ED21AB14-1912-B9ED-BF19-765CE02EE5AC}"/>
                  </a:ext>
                </a:extLst>
              </p:cNvPr>
              <p:cNvSpPr/>
              <p:nvPr/>
            </p:nvSpPr>
            <p:spPr>
              <a:xfrm>
                <a:off x="938863" y="1509175"/>
                <a:ext cx="835470" cy="873350"/>
              </a:xfrm>
              <a:custGeom>
                <a:avLst/>
                <a:gdLst/>
                <a:ahLst/>
                <a:cxnLst/>
                <a:rect l="l" t="t" r="r" b="b"/>
                <a:pathLst>
                  <a:path w="47924" h="34934" extrusionOk="0">
                    <a:moveTo>
                      <a:pt x="28957" y="0"/>
                    </a:moveTo>
                    <a:lnTo>
                      <a:pt x="28957" y="5680"/>
                    </a:lnTo>
                    <a:lnTo>
                      <a:pt x="11216" y="5680"/>
                    </a:lnTo>
                    <a:cubicBezTo>
                      <a:pt x="5025" y="5680"/>
                      <a:pt x="1" y="10704"/>
                      <a:pt x="1" y="16895"/>
                    </a:cubicBezTo>
                    <a:lnTo>
                      <a:pt x="1" y="34933"/>
                    </a:lnTo>
                    <a:cubicBezTo>
                      <a:pt x="1" y="28742"/>
                      <a:pt x="5025" y="23718"/>
                      <a:pt x="11216" y="23718"/>
                    </a:cubicBezTo>
                    <a:lnTo>
                      <a:pt x="28957" y="23718"/>
                    </a:lnTo>
                    <a:lnTo>
                      <a:pt x="28957" y="29861"/>
                    </a:lnTo>
                    <a:lnTo>
                      <a:pt x="47888" y="14978"/>
                    </a:lnTo>
                    <a:cubicBezTo>
                      <a:pt x="47923" y="14955"/>
                      <a:pt x="47923" y="14907"/>
                      <a:pt x="47888" y="14883"/>
                    </a:cubicBezTo>
                    <a:lnTo>
                      <a:pt x="28957" y="0"/>
                    </a:lnTo>
                    <a:close/>
                  </a:path>
                </a:pathLst>
              </a:custGeom>
              <a:noFill/>
              <a:ln w="3810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" name="Google Shape;563;p27">
            <a:extLst>
              <a:ext uri="{FF2B5EF4-FFF2-40B4-BE49-F238E27FC236}">
                <a16:creationId xmlns:a16="http://schemas.microsoft.com/office/drawing/2014/main" id="{345EACB3-6038-16EA-97CF-CFD7B91609F7}"/>
              </a:ext>
            </a:extLst>
          </p:cNvPr>
          <p:cNvGrpSpPr/>
          <p:nvPr/>
        </p:nvGrpSpPr>
        <p:grpSpPr>
          <a:xfrm>
            <a:off x="460454" y="5292366"/>
            <a:ext cx="5372725" cy="910174"/>
            <a:chOff x="1028701" y="2928100"/>
            <a:chExt cx="3394874" cy="1262700"/>
          </a:xfrm>
        </p:grpSpPr>
        <p:sp>
          <p:nvSpPr>
            <p:cNvPr id="83" name="Google Shape;564;p27">
              <a:extLst>
                <a:ext uri="{FF2B5EF4-FFF2-40B4-BE49-F238E27FC236}">
                  <a16:creationId xmlns:a16="http://schemas.microsoft.com/office/drawing/2014/main" id="{350F1546-C414-D6F2-01AF-97EF6E8A6471}"/>
                </a:ext>
              </a:extLst>
            </p:cNvPr>
            <p:cNvSpPr/>
            <p:nvPr/>
          </p:nvSpPr>
          <p:spPr>
            <a:xfrm>
              <a:off x="1497375" y="2928100"/>
              <a:ext cx="2926200" cy="1262700"/>
            </a:xfrm>
            <a:prstGeom prst="roundRect">
              <a:avLst>
                <a:gd name="adj" fmla="val 16667"/>
              </a:avLst>
            </a:prstGeom>
            <a:noFill/>
            <a:ln w="38100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" name="Google Shape;567;p27">
              <a:extLst>
                <a:ext uri="{FF2B5EF4-FFF2-40B4-BE49-F238E27FC236}">
                  <a16:creationId xmlns:a16="http://schemas.microsoft.com/office/drawing/2014/main" id="{652817A4-A34B-7C22-A4BD-BEF2E37297CE}"/>
                </a:ext>
              </a:extLst>
            </p:cNvPr>
            <p:cNvGrpSpPr/>
            <p:nvPr/>
          </p:nvGrpSpPr>
          <p:grpSpPr>
            <a:xfrm>
              <a:off x="1028701" y="3187775"/>
              <a:ext cx="883355" cy="1003025"/>
              <a:chOff x="938863" y="3057925"/>
              <a:chExt cx="835482" cy="1003025"/>
            </a:xfrm>
          </p:grpSpPr>
          <p:sp>
            <p:nvSpPr>
              <p:cNvPr id="88" name="Google Shape;568;p27">
                <a:extLst>
                  <a:ext uri="{FF2B5EF4-FFF2-40B4-BE49-F238E27FC236}">
                    <a16:creationId xmlns:a16="http://schemas.microsoft.com/office/drawing/2014/main" id="{AD4EA84C-CA9F-5E29-3A34-30E67B756CA9}"/>
                  </a:ext>
                </a:extLst>
              </p:cNvPr>
              <p:cNvSpPr/>
              <p:nvPr/>
            </p:nvSpPr>
            <p:spPr>
              <a:xfrm>
                <a:off x="938863" y="3647775"/>
                <a:ext cx="451275" cy="413175"/>
              </a:xfrm>
              <a:custGeom>
                <a:avLst/>
                <a:gdLst/>
                <a:ahLst/>
                <a:cxnLst/>
                <a:rect l="l" t="t" r="r" b="b"/>
                <a:pathLst>
                  <a:path w="18051" h="16527" extrusionOk="0">
                    <a:moveTo>
                      <a:pt x="11216" y="1"/>
                    </a:moveTo>
                    <a:cubicBezTo>
                      <a:pt x="5025" y="1"/>
                      <a:pt x="1" y="5013"/>
                      <a:pt x="1" y="11217"/>
                    </a:cubicBezTo>
                    <a:lnTo>
                      <a:pt x="1" y="16527"/>
                    </a:lnTo>
                    <a:lnTo>
                      <a:pt x="8919" y="16527"/>
                    </a:lnTo>
                    <a:cubicBezTo>
                      <a:pt x="13955" y="16527"/>
                      <a:pt x="18051" y="12443"/>
                      <a:pt x="18051" y="7395"/>
                    </a:cubicBezTo>
                    <a:lnTo>
                      <a:pt x="18051" y="1"/>
                    </a:lnTo>
                    <a:close/>
                  </a:path>
                </a:pathLst>
              </a:custGeom>
              <a:noFill/>
              <a:ln w="3810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569;p27">
                <a:extLst>
                  <a:ext uri="{FF2B5EF4-FFF2-40B4-BE49-F238E27FC236}">
                    <a16:creationId xmlns:a16="http://schemas.microsoft.com/office/drawing/2014/main" id="{6213726D-5AFF-727D-9C06-5880C0C5CF5D}"/>
                  </a:ext>
                </a:extLst>
              </p:cNvPr>
              <p:cNvSpPr/>
              <p:nvPr/>
            </p:nvSpPr>
            <p:spPr>
              <a:xfrm>
                <a:off x="938864" y="3057925"/>
                <a:ext cx="835481" cy="873350"/>
              </a:xfrm>
              <a:custGeom>
                <a:avLst/>
                <a:gdLst/>
                <a:ahLst/>
                <a:cxnLst/>
                <a:rect l="l" t="t" r="r" b="b"/>
                <a:pathLst>
                  <a:path w="47924" h="34934" extrusionOk="0">
                    <a:moveTo>
                      <a:pt x="28957" y="1"/>
                    </a:moveTo>
                    <a:lnTo>
                      <a:pt x="28957" y="5668"/>
                    </a:lnTo>
                    <a:lnTo>
                      <a:pt x="11216" y="5668"/>
                    </a:lnTo>
                    <a:cubicBezTo>
                      <a:pt x="5025" y="5668"/>
                      <a:pt x="1" y="10693"/>
                      <a:pt x="1" y="16896"/>
                    </a:cubicBezTo>
                    <a:lnTo>
                      <a:pt x="1" y="34934"/>
                    </a:lnTo>
                    <a:cubicBezTo>
                      <a:pt x="1" y="28730"/>
                      <a:pt x="5025" y="23718"/>
                      <a:pt x="11216" y="23718"/>
                    </a:cubicBezTo>
                    <a:lnTo>
                      <a:pt x="28957" y="23718"/>
                    </a:lnTo>
                    <a:lnTo>
                      <a:pt x="28957" y="29862"/>
                    </a:lnTo>
                    <a:lnTo>
                      <a:pt x="47888" y="14979"/>
                    </a:lnTo>
                    <a:cubicBezTo>
                      <a:pt x="47923" y="14955"/>
                      <a:pt x="47923" y="14907"/>
                      <a:pt x="47888" y="14883"/>
                    </a:cubicBezTo>
                    <a:lnTo>
                      <a:pt x="28957" y="1"/>
                    </a:lnTo>
                    <a:close/>
                  </a:path>
                </a:pathLst>
              </a:custGeom>
              <a:noFill/>
              <a:ln w="38100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" name="Google Shape;571;p27">
            <a:extLst>
              <a:ext uri="{FF2B5EF4-FFF2-40B4-BE49-F238E27FC236}">
                <a16:creationId xmlns:a16="http://schemas.microsoft.com/office/drawing/2014/main" id="{BB494B3A-612C-710A-AA43-183DADC5EE4B}"/>
              </a:ext>
            </a:extLst>
          </p:cNvPr>
          <p:cNvGrpSpPr/>
          <p:nvPr/>
        </p:nvGrpSpPr>
        <p:grpSpPr>
          <a:xfrm>
            <a:off x="5973693" y="3785682"/>
            <a:ext cx="5774427" cy="910174"/>
            <a:chOff x="4724400" y="1379350"/>
            <a:chExt cx="3390629" cy="1262700"/>
          </a:xfrm>
        </p:grpSpPr>
        <p:sp>
          <p:nvSpPr>
            <p:cNvPr id="91" name="Google Shape;572;p27">
              <a:extLst>
                <a:ext uri="{FF2B5EF4-FFF2-40B4-BE49-F238E27FC236}">
                  <a16:creationId xmlns:a16="http://schemas.microsoft.com/office/drawing/2014/main" id="{AB6A5E30-A3A7-D5B8-AD44-8AA00B12D8E3}"/>
                </a:ext>
              </a:extLst>
            </p:cNvPr>
            <p:cNvSpPr/>
            <p:nvPr/>
          </p:nvSpPr>
          <p:spPr>
            <a:xfrm>
              <a:off x="4724400" y="1379350"/>
              <a:ext cx="2913000" cy="1262700"/>
            </a:xfrm>
            <a:prstGeom prst="roundRect">
              <a:avLst>
                <a:gd name="adj" fmla="val 16667"/>
              </a:avLst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94" name="Google Shape;575;p27">
              <a:extLst>
                <a:ext uri="{FF2B5EF4-FFF2-40B4-BE49-F238E27FC236}">
                  <a16:creationId xmlns:a16="http://schemas.microsoft.com/office/drawing/2014/main" id="{E1475366-2BDF-1E24-2216-F1AEE6A6CFC1}"/>
                </a:ext>
              </a:extLst>
            </p:cNvPr>
            <p:cNvGrpSpPr/>
            <p:nvPr/>
          </p:nvGrpSpPr>
          <p:grpSpPr>
            <a:xfrm rot="10800000" flipH="1">
              <a:off x="7248140" y="1379350"/>
              <a:ext cx="866889" cy="1003025"/>
              <a:chOff x="7385255" y="1509175"/>
              <a:chExt cx="819908" cy="1003025"/>
            </a:xfrm>
          </p:grpSpPr>
          <p:sp>
            <p:nvSpPr>
              <p:cNvPr id="96" name="Google Shape;576;p27">
                <a:extLst>
                  <a:ext uri="{FF2B5EF4-FFF2-40B4-BE49-F238E27FC236}">
                    <a16:creationId xmlns:a16="http://schemas.microsoft.com/office/drawing/2014/main" id="{04505B5C-4B75-4410-C0F3-587F636C0D7C}"/>
                  </a:ext>
                </a:extLst>
              </p:cNvPr>
              <p:cNvSpPr/>
              <p:nvPr/>
            </p:nvSpPr>
            <p:spPr>
              <a:xfrm>
                <a:off x="7753888" y="2099025"/>
                <a:ext cx="451275" cy="413175"/>
              </a:xfrm>
              <a:custGeom>
                <a:avLst/>
                <a:gdLst/>
                <a:ahLst/>
                <a:cxnLst/>
                <a:rect l="l" t="t" r="r" b="b"/>
                <a:pathLst>
                  <a:path w="18051" h="16527" extrusionOk="0">
                    <a:moveTo>
                      <a:pt x="1" y="0"/>
                    </a:moveTo>
                    <a:lnTo>
                      <a:pt x="1" y="7394"/>
                    </a:lnTo>
                    <a:cubicBezTo>
                      <a:pt x="1" y="12442"/>
                      <a:pt x="4097" y="16526"/>
                      <a:pt x="9133" y="16526"/>
                    </a:cubicBezTo>
                    <a:lnTo>
                      <a:pt x="18051" y="16526"/>
                    </a:lnTo>
                    <a:lnTo>
                      <a:pt x="18051" y="11216"/>
                    </a:lnTo>
                    <a:cubicBezTo>
                      <a:pt x="18051" y="5025"/>
                      <a:pt x="13026" y="0"/>
                      <a:pt x="6835" y="0"/>
                    </a:cubicBezTo>
                    <a:close/>
                  </a:path>
                </a:pathLst>
              </a:custGeom>
              <a:noFill/>
              <a:ln w="381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577;p27">
                <a:extLst>
                  <a:ext uri="{FF2B5EF4-FFF2-40B4-BE49-F238E27FC236}">
                    <a16:creationId xmlns:a16="http://schemas.microsoft.com/office/drawing/2014/main" id="{B0EF789E-E6C8-8622-90D9-419987182372}"/>
                  </a:ext>
                </a:extLst>
              </p:cNvPr>
              <p:cNvSpPr/>
              <p:nvPr/>
            </p:nvSpPr>
            <p:spPr>
              <a:xfrm>
                <a:off x="7385255" y="1509175"/>
                <a:ext cx="819908" cy="873350"/>
              </a:xfrm>
              <a:custGeom>
                <a:avLst/>
                <a:gdLst/>
                <a:ahLst/>
                <a:cxnLst/>
                <a:rect l="l" t="t" r="r" b="b"/>
                <a:pathLst>
                  <a:path w="47923" h="34934" extrusionOk="0">
                    <a:moveTo>
                      <a:pt x="18967" y="0"/>
                    </a:moveTo>
                    <a:lnTo>
                      <a:pt x="36" y="14883"/>
                    </a:lnTo>
                    <a:cubicBezTo>
                      <a:pt x="0" y="14907"/>
                      <a:pt x="0" y="14954"/>
                      <a:pt x="36" y="14978"/>
                    </a:cubicBezTo>
                    <a:lnTo>
                      <a:pt x="18967" y="29861"/>
                    </a:lnTo>
                    <a:lnTo>
                      <a:pt x="18967" y="23717"/>
                    </a:lnTo>
                    <a:lnTo>
                      <a:pt x="36707" y="23717"/>
                    </a:lnTo>
                    <a:cubicBezTo>
                      <a:pt x="42898" y="23717"/>
                      <a:pt x="47923" y="28742"/>
                      <a:pt x="47923" y="34933"/>
                    </a:cubicBezTo>
                    <a:lnTo>
                      <a:pt x="47923" y="16895"/>
                    </a:lnTo>
                    <a:cubicBezTo>
                      <a:pt x="47923" y="10692"/>
                      <a:pt x="42898" y="5680"/>
                      <a:pt x="36707" y="5680"/>
                    </a:cubicBezTo>
                    <a:lnTo>
                      <a:pt x="18967" y="5680"/>
                    </a:lnTo>
                    <a:lnTo>
                      <a:pt x="18967" y="0"/>
                    </a:lnTo>
                    <a:close/>
                  </a:path>
                </a:pathLst>
              </a:custGeom>
              <a:noFill/>
              <a:ln w="381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2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8" name="Google Shape;579;p27">
            <a:extLst>
              <a:ext uri="{FF2B5EF4-FFF2-40B4-BE49-F238E27FC236}">
                <a16:creationId xmlns:a16="http://schemas.microsoft.com/office/drawing/2014/main" id="{8A8C1C9C-6458-F1FE-E0B6-DD043FD37CE0}"/>
              </a:ext>
            </a:extLst>
          </p:cNvPr>
          <p:cNvGrpSpPr/>
          <p:nvPr/>
        </p:nvGrpSpPr>
        <p:grpSpPr>
          <a:xfrm>
            <a:off x="5987329" y="5292366"/>
            <a:ext cx="5760787" cy="910174"/>
            <a:chOff x="4724400" y="2928100"/>
            <a:chExt cx="3390626" cy="1262700"/>
          </a:xfrm>
        </p:grpSpPr>
        <p:sp>
          <p:nvSpPr>
            <p:cNvPr id="99" name="Google Shape;580;p27">
              <a:extLst>
                <a:ext uri="{FF2B5EF4-FFF2-40B4-BE49-F238E27FC236}">
                  <a16:creationId xmlns:a16="http://schemas.microsoft.com/office/drawing/2014/main" id="{AAFD6761-1BA2-A50B-E0AF-4DCF9714F1BD}"/>
                </a:ext>
              </a:extLst>
            </p:cNvPr>
            <p:cNvSpPr/>
            <p:nvPr/>
          </p:nvSpPr>
          <p:spPr>
            <a:xfrm>
              <a:off x="4724400" y="2928100"/>
              <a:ext cx="2925900" cy="1262700"/>
            </a:xfrm>
            <a:prstGeom prst="roundRect">
              <a:avLst>
                <a:gd name="adj" fmla="val 16667"/>
              </a:avLst>
            </a:prstGeom>
            <a:noFill/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" name="Google Shape;583;p27">
              <a:extLst>
                <a:ext uri="{FF2B5EF4-FFF2-40B4-BE49-F238E27FC236}">
                  <a16:creationId xmlns:a16="http://schemas.microsoft.com/office/drawing/2014/main" id="{48E0F72D-F460-5E35-FC2B-5281A537A2D4}"/>
                </a:ext>
              </a:extLst>
            </p:cNvPr>
            <p:cNvGrpSpPr/>
            <p:nvPr/>
          </p:nvGrpSpPr>
          <p:grpSpPr>
            <a:xfrm>
              <a:off x="7246085" y="3187775"/>
              <a:ext cx="868941" cy="1003025"/>
              <a:chOff x="7383314" y="3057925"/>
              <a:chExt cx="821849" cy="1003025"/>
            </a:xfrm>
          </p:grpSpPr>
          <p:sp>
            <p:nvSpPr>
              <p:cNvPr id="104" name="Google Shape;584;p27">
                <a:extLst>
                  <a:ext uri="{FF2B5EF4-FFF2-40B4-BE49-F238E27FC236}">
                    <a16:creationId xmlns:a16="http://schemas.microsoft.com/office/drawing/2014/main" id="{23A84CE9-8BFB-3709-ADD5-E88C03206AAD}"/>
                  </a:ext>
                </a:extLst>
              </p:cNvPr>
              <p:cNvSpPr/>
              <p:nvPr/>
            </p:nvSpPr>
            <p:spPr>
              <a:xfrm>
                <a:off x="7753888" y="3647775"/>
                <a:ext cx="451275" cy="413175"/>
              </a:xfrm>
              <a:custGeom>
                <a:avLst/>
                <a:gdLst/>
                <a:ahLst/>
                <a:cxnLst/>
                <a:rect l="l" t="t" r="r" b="b"/>
                <a:pathLst>
                  <a:path w="18051" h="16527" extrusionOk="0">
                    <a:moveTo>
                      <a:pt x="1" y="1"/>
                    </a:moveTo>
                    <a:lnTo>
                      <a:pt x="1" y="7395"/>
                    </a:lnTo>
                    <a:cubicBezTo>
                      <a:pt x="1" y="12443"/>
                      <a:pt x="4097" y="16527"/>
                      <a:pt x="9133" y="16527"/>
                    </a:cubicBezTo>
                    <a:lnTo>
                      <a:pt x="18051" y="16527"/>
                    </a:lnTo>
                    <a:lnTo>
                      <a:pt x="18051" y="11216"/>
                    </a:lnTo>
                    <a:cubicBezTo>
                      <a:pt x="18051" y="5013"/>
                      <a:pt x="13026" y="1"/>
                      <a:pt x="6835" y="1"/>
                    </a:cubicBezTo>
                    <a:close/>
                  </a:path>
                </a:pathLst>
              </a:custGeom>
              <a:noFill/>
              <a:ln w="3810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585;p27">
                <a:extLst>
                  <a:ext uri="{FF2B5EF4-FFF2-40B4-BE49-F238E27FC236}">
                    <a16:creationId xmlns:a16="http://schemas.microsoft.com/office/drawing/2014/main" id="{CA2C00D5-BEB6-225E-42D3-104C8110256D}"/>
                  </a:ext>
                </a:extLst>
              </p:cNvPr>
              <p:cNvSpPr/>
              <p:nvPr/>
            </p:nvSpPr>
            <p:spPr>
              <a:xfrm>
                <a:off x="7383314" y="3057925"/>
                <a:ext cx="821848" cy="873350"/>
              </a:xfrm>
              <a:custGeom>
                <a:avLst/>
                <a:gdLst/>
                <a:ahLst/>
                <a:cxnLst/>
                <a:rect l="l" t="t" r="r" b="b"/>
                <a:pathLst>
                  <a:path w="47923" h="34934" extrusionOk="0">
                    <a:moveTo>
                      <a:pt x="18967" y="1"/>
                    </a:moveTo>
                    <a:lnTo>
                      <a:pt x="36" y="14883"/>
                    </a:lnTo>
                    <a:cubicBezTo>
                      <a:pt x="0" y="14907"/>
                      <a:pt x="0" y="14955"/>
                      <a:pt x="36" y="14979"/>
                    </a:cubicBezTo>
                    <a:lnTo>
                      <a:pt x="18967" y="29861"/>
                    </a:lnTo>
                    <a:lnTo>
                      <a:pt x="18967" y="23718"/>
                    </a:lnTo>
                    <a:lnTo>
                      <a:pt x="36707" y="23718"/>
                    </a:lnTo>
                    <a:cubicBezTo>
                      <a:pt x="42898" y="23718"/>
                      <a:pt x="47923" y="28730"/>
                      <a:pt x="47923" y="34933"/>
                    </a:cubicBezTo>
                    <a:lnTo>
                      <a:pt x="47923" y="16895"/>
                    </a:lnTo>
                    <a:cubicBezTo>
                      <a:pt x="47923" y="10692"/>
                      <a:pt x="42898" y="5668"/>
                      <a:pt x="36707" y="5668"/>
                    </a:cubicBezTo>
                    <a:lnTo>
                      <a:pt x="18967" y="5668"/>
                    </a:lnTo>
                    <a:lnTo>
                      <a:pt x="18967" y="1"/>
                    </a:lnTo>
                    <a:close/>
                  </a:path>
                </a:pathLst>
              </a:custGeom>
              <a:noFill/>
              <a:ln w="38100" cap="flat" cmpd="sng" algn="ctr">
                <a:solidFill>
                  <a:schemeClr val="accent5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C7101E50-820C-4A03-8D1E-E20BE9049296}"/>
              </a:ext>
            </a:extLst>
          </p:cNvPr>
          <p:cNvSpPr txBox="1"/>
          <p:nvPr/>
        </p:nvSpPr>
        <p:spPr>
          <a:xfrm>
            <a:off x="1999047" y="3912254"/>
            <a:ext cx="3567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Expand dataset for improved generalization</a:t>
            </a:r>
          </a:p>
        </p:txBody>
      </p:sp>
      <p:sp>
        <p:nvSpPr>
          <p:cNvPr id="110" name="Rectangle 1">
            <a:extLst>
              <a:ext uri="{FF2B5EF4-FFF2-40B4-BE49-F238E27FC236}">
                <a16:creationId xmlns:a16="http://schemas.microsoft.com/office/drawing/2014/main" id="{34B9AFBE-29FF-127E-4A55-ED7447DC2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518" y="3932626"/>
            <a:ext cx="418564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Extend to multi-class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(C, M, X flares) </a:t>
            </a:r>
          </a:p>
        </p:txBody>
      </p:sp>
      <p:sp>
        <p:nvSpPr>
          <p:cNvPr id="111" name="Rectangle 2">
            <a:extLst>
              <a:ext uri="{FF2B5EF4-FFF2-40B4-BE49-F238E27FC236}">
                <a16:creationId xmlns:a16="http://schemas.microsoft.com/office/drawing/2014/main" id="{5FC38032-985F-A413-BB06-EA1DCA917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601" y="5390952"/>
            <a:ext cx="38204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 real-time NOAA/NASA data feeds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33FBA39-A4A9-5F3B-D483-762C3786338C}"/>
              </a:ext>
            </a:extLst>
          </p:cNvPr>
          <p:cNvSpPr txBox="1"/>
          <p:nvPr/>
        </p:nvSpPr>
        <p:spPr>
          <a:xfrm>
            <a:off x="6088844" y="5471140"/>
            <a:ext cx="4182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Apply Explainable AI (Grad-CAM, saliency maps)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A557599-D55B-6E46-E792-8AF0F1B8E39C}"/>
              </a:ext>
            </a:extLst>
          </p:cNvPr>
          <p:cNvSpPr txBox="1"/>
          <p:nvPr/>
        </p:nvSpPr>
        <p:spPr>
          <a:xfrm>
            <a:off x="3742741" y="4762968"/>
            <a:ext cx="454964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FUTURE ENHANCEMENT</a:t>
            </a:r>
            <a:endParaRPr lang="en-IN" sz="2500" b="1" dirty="0">
              <a:solidFill>
                <a:schemeClr val="accent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7C868552-F908-F9F9-2AFB-607443CCFF98}"/>
              </a:ext>
            </a:extLst>
          </p:cNvPr>
          <p:cNvCxnSpPr/>
          <p:nvPr/>
        </p:nvCxnSpPr>
        <p:spPr>
          <a:xfrm>
            <a:off x="1430852" y="3520440"/>
            <a:ext cx="9451332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369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457200" y="180000"/>
            <a:ext cx="11277600" cy="57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5400" b="1" dirty="0">
                <a:solidFill>
                  <a:srgbClr val="000000"/>
                </a:solidFill>
                <a:latin typeface="Algerian" panose="04020705040A02060702" pitchFamily="82" charset="0"/>
              </a:rPr>
              <a:t>REFERENCES</a:t>
            </a:r>
          </a:p>
        </p:txBody>
      </p:sp>
      <p:sp>
        <p:nvSpPr>
          <p:cNvPr id="3" name="BL3"/>
          <p:cNvSpPr txBox="1"/>
          <p:nvPr/>
        </p:nvSpPr>
        <p:spPr>
          <a:xfrm>
            <a:off x="609600" y="1249917"/>
            <a:ext cx="11277600" cy="5199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ts val="80"/>
              </a:spcBef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</a:rPr>
              <a:t>[1] M. Bobra and S. Couvidat, “Solar flare prediction using SDO/HMI vector magnetic field data with a machine-learning algorithm,” The Astrophysical Journal, vol. 798, no. 2, 2015.</a:t>
            </a:r>
          </a:p>
          <a:p>
            <a:pPr algn="l">
              <a:lnSpc>
                <a:spcPct val="150000"/>
              </a:lnSpc>
              <a:spcBef>
                <a:spcPts val="80"/>
              </a:spcBef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</a:rPr>
              <a:t>[2] Y. Nishizuka et al., “Deep learning for solar flare prediction,” The Astrophysical Journal, vol. 858, no. 2, 2018.</a:t>
            </a:r>
          </a:p>
          <a:p>
            <a:pPr algn="l">
              <a:lnSpc>
                <a:spcPct val="150000"/>
              </a:lnSpc>
              <a:spcBef>
                <a:spcPts val="80"/>
              </a:spcBef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</a:rPr>
              <a:t>[3] X. Huang, L. Liu, and Y. Wang, “Deep CNN for solar flare prediction using magnetogram images,” Solar Physics, vol. 293, no. 5, 2018.</a:t>
            </a:r>
          </a:p>
          <a:p>
            <a:pPr algn="l">
              <a:lnSpc>
                <a:spcPct val="150000"/>
              </a:lnSpc>
              <a:spcBef>
                <a:spcPts val="80"/>
              </a:spcBef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</a:rPr>
              <a:t>[4] J. Ahmed, M. Qureshi, and S. Khan, “Solar flare prediction using support vector machines,” Int. J. Computer Applications, vol. 75, no. 7, 2013.</a:t>
            </a:r>
          </a:p>
          <a:p>
            <a:pPr algn="l">
              <a:lnSpc>
                <a:spcPct val="150000"/>
              </a:lnSpc>
              <a:spcBef>
                <a:spcPts val="80"/>
              </a:spcBef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</a:rPr>
              <a:t>[5] F. Chollet, Deep Learning with Python, Manning Publications, 2017.</a:t>
            </a:r>
          </a:p>
          <a:p>
            <a:pPr algn="l">
              <a:lnSpc>
                <a:spcPct val="150000"/>
              </a:lnSpc>
              <a:spcBef>
                <a:spcPts val="80"/>
              </a:spcBef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</a:rPr>
              <a:t>[6] NOAA SWPC, Solar Region Summary Data. https://www.swpc.noaa.gov</a:t>
            </a:r>
          </a:p>
          <a:p>
            <a:pPr algn="l">
              <a:lnSpc>
                <a:spcPct val="150000"/>
              </a:lnSpc>
              <a:spcBef>
                <a:spcPts val="80"/>
              </a:spcBef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</a:rPr>
              <a:t>[7] JSOC Stanford, Solar Data Archive. http://jsoc.stanford.edu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mmm">
      <a:dk1>
        <a:sysClr val="windowText" lastClr="000000"/>
      </a:dk1>
      <a:lt1>
        <a:sysClr val="window" lastClr="FFFFFF"/>
      </a:lt1>
      <a:dk2>
        <a:srgbClr val="44546A"/>
      </a:dk2>
      <a:lt2>
        <a:srgbClr val="BF2424"/>
      </a:lt2>
      <a:accent1>
        <a:srgbClr val="286D94"/>
      </a:accent1>
      <a:accent2>
        <a:srgbClr val="941358"/>
      </a:accent2>
      <a:accent3>
        <a:srgbClr val="2CACB8"/>
      </a:accent3>
      <a:accent4>
        <a:srgbClr val="E74B59"/>
      </a:accent4>
      <a:accent5>
        <a:srgbClr val="591959"/>
      </a:accent5>
      <a:accent6>
        <a:srgbClr val="FE9E50"/>
      </a:accent6>
      <a:hlink>
        <a:srgbClr val="BF242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2324</TotalTime>
  <Words>931</Words>
  <Application>Microsoft Office PowerPoint</Application>
  <PresentationFormat>Widescreen</PresentationFormat>
  <Paragraphs>163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Algerian</vt:lpstr>
      <vt:lpstr>Arial</vt:lpstr>
      <vt:lpstr>Arial Black</vt:lpstr>
      <vt:lpstr>Calibri</vt:lpstr>
      <vt:lpstr>Calibri Light</vt:lpstr>
      <vt:lpstr>English111 Vivace BT</vt:lpstr>
      <vt:lpstr>Fira Sans Extra Condensed Medium</vt:lpstr>
      <vt:lpstr>Open Sans</vt:lpstr>
      <vt:lpstr>Times New Roman</vt:lpstr>
      <vt:lpstr>Office Theme</vt:lpstr>
      <vt:lpstr>BNMIT An Autonomous Institution under VTU Approved by AICTE, Accredited as Grade A Institution by NAAC. All eligible branches Accredited by NBA upto 30.06.2028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manasachiti22@outlook.com</dc:creator>
  <cp:lastModifiedBy>Nandu Devaraj</cp:lastModifiedBy>
  <cp:revision>36</cp:revision>
  <dcterms:created xsi:type="dcterms:W3CDTF">2024-11-13T10:37:13Z</dcterms:created>
  <dcterms:modified xsi:type="dcterms:W3CDTF">2026-04-22T14:49:38Z</dcterms:modified>
</cp:coreProperties>
</file>